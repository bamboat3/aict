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4699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D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914400"/>
            <a:ext cx="5029200" cy="5029200"/>
          </a:xfrm>
          <a:prstGeom prst="ellipse">
            <a:avLst/>
          </a:prstGeom>
          <a:solidFill>
            <a:srgbClr val="0D5299">
              <a:alpha val="70000"/>
            </a:srgbClr>
          </a:solidFill>
          <a:ln w="12700">
            <a:solidFill>
              <a:srgbClr val="0D52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365760"/>
            <a:ext cx="3657600" cy="3657600"/>
          </a:xfrm>
          <a:prstGeom prst="ellipse">
            <a:avLst/>
          </a:prstGeom>
          <a:solidFill>
            <a:srgbClr val="00A8E8">
              <a:alpha val="30000"/>
            </a:srgbClr>
          </a:solidFill>
          <a:ln w="12700">
            <a:solidFill>
              <a:srgbClr val="00A8E8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229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endParaRPr lang="en-US" sz="5200" dirty="0"/>
          </a:p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2-Hour Lecture + 1-Hour Hands-On Lab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2918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Department  |  Business Intelligence Module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81888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(2 hrs)  ●  Hands-On Lab (1 hr)  ●  Power BI Desktop — Free Download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Overview &amp; Agenda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in today's session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solidFill>
            <a:srgbClr val="F4F7FA"/>
          </a:solidFill>
          <a:ln w="12700">
            <a:solidFill>
              <a:srgbClr val="D0E4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64008" cy="64008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5214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 PART 1  |  30 min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Business Intelligence &amp; Power BI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0" y="1207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1856232"/>
            <a:ext cx="8229600" cy="640080"/>
          </a:xfrm>
          <a:prstGeom prst="rect">
            <a:avLst/>
          </a:prstGeom>
          <a:solidFill>
            <a:srgbClr val="F4F7FA"/>
          </a:solidFill>
          <a:ln w="12700">
            <a:solidFill>
              <a:srgbClr val="D0E4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856232"/>
            <a:ext cx="64008" cy="6400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9110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 PART 2  |  30 min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40080" y="213055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Interface, Data Sources &amp; Transformations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0" y="1965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57200" y="2615184"/>
            <a:ext cx="8229600" cy="640080"/>
          </a:xfrm>
          <a:prstGeom prst="rect">
            <a:avLst/>
          </a:prstGeom>
          <a:solidFill>
            <a:srgbClr val="F4F7FA"/>
          </a:solidFill>
          <a:ln w="12700">
            <a:solidFill>
              <a:srgbClr val="D0E4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615184"/>
            <a:ext cx="64008" cy="6400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6700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 PART 3  |  30 min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40080" y="288950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Visualizations, Reports &amp; Dashboards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0" y="2724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57200" y="3374136"/>
            <a:ext cx="8229600" cy="640080"/>
          </a:xfrm>
          <a:prstGeom prst="rect">
            <a:avLst/>
          </a:prstGeom>
          <a:solidFill>
            <a:srgbClr val="F4F7FA"/>
          </a:solidFill>
          <a:ln w="12700">
            <a:solidFill>
              <a:srgbClr val="D0E4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374136"/>
            <a:ext cx="64008" cy="6400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4290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 PART 4  |  30 min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40080" y="364845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Basics, Filters &amp; Publishing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0" y="34838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457200" y="4133088"/>
            <a:ext cx="8229600" cy="640080"/>
          </a:xfrm>
          <a:prstGeom prst="rect">
            <a:avLst/>
          </a:prstGeom>
          <a:solidFill>
            <a:srgbClr val="F4F7FA"/>
          </a:solidFill>
          <a:ln w="12700">
            <a:solidFill>
              <a:srgbClr val="D0E4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4133088"/>
            <a:ext cx="64008" cy="6400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1879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PRACTICAL   |  60 min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40080" y="440740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Hands-On: Build a Sales Dashboard from Scratch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229600" y="42428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Business Intelligence (BI)?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Introduction  |  Slide 1 of 6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Business Intelligence (BI)?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= Converting raw data into meaningful, actionable insights to support business decisions.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508760"/>
            <a:ext cx="1965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508760"/>
            <a:ext cx="64008" cy="196596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6002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A8E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📥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77240" y="1645920"/>
            <a:ext cx="1490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0352" y="1856232"/>
            <a:ext cx="170992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data from databases, spreadsheets, APIs, cloud services and more.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68880" y="1508760"/>
            <a:ext cx="1965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68880" y="1508760"/>
            <a:ext cx="64008" cy="1965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06040" y="16002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565C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⚙️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834640" y="159105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33472" y="1856232"/>
            <a:ext cx="170992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transform and model raw data into structured formats ready for analysis.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0" y="1508760"/>
            <a:ext cx="1965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0" y="1508760"/>
            <a:ext cx="64008" cy="19659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16002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5A62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📊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983480" y="15948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36592" y="1856232"/>
            <a:ext cx="170992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statistical and analytical techniques to identify patterns and trends.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675120" y="1508760"/>
            <a:ext cx="1965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675120" y="1508760"/>
            <a:ext cx="64008" cy="19659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12280" y="16002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7AE6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📈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040880" y="160065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39712" y="1856232"/>
            <a:ext cx="170992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findings through interactive charts, graphs and dashboards.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3611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E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Tools in Industry: Power BI, Tableau, Qlik, Looker, SAP BusinessObjects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3913632"/>
            <a:ext cx="8229600" cy="594360"/>
          </a:xfrm>
          <a:prstGeom prst="rect">
            <a:avLst/>
          </a:prstGeom>
          <a:solidFill>
            <a:srgbClr val="0A3D6B"/>
          </a:solidFill>
          <a:ln w="12700">
            <a:solidFill>
              <a:srgbClr val="0A3D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395935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Stat: Companies that use BI tools are 5x more likely to make faster, better decisions than competitors who don't.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Microsoft Power BI?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|  Slide 2 of 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Desktop version — no cost to download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2704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 97% of Fortune 500 companies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11096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100+ data sources out of the box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9514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— no coding required to start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7919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dashboards &amp; cloud publishing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6324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AI &amp; natural language queries (Q&amp;A)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44728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most demanded BI skill by employers globally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760720" y="1051560"/>
            <a:ext cx="2926080" cy="3840480"/>
          </a:xfrm>
          <a:prstGeom prst="rect">
            <a:avLst/>
          </a:prstGeom>
          <a:solidFill>
            <a:srgbClr val="0A3D6B"/>
          </a:solidFill>
          <a:ln w="12700">
            <a:solidFill>
              <a:srgbClr val="0A3D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0" y="10972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Numbers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852160" y="17830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852160" y="21579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Download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852160" y="253288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852160" y="29077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Connectors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852160" y="328269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250K+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852160" y="3657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Members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852160" y="403250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852160" y="44074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Gartner BI Leader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Power BI Ecosystem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|  Slide 3 of 6  — Three products, one platform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6517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2651760" cy="50292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2471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Power BI Desktop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14600" y="1143000"/>
            <a:ext cx="438912" cy="219456"/>
          </a:xfrm>
          <a:prstGeom prst="roundRect">
            <a:avLst>
              <a:gd name="adj" fmla="val 20833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96312" y="115214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75488" y="171907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reports &amp; dashboards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" y="222199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&amp; transform data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272491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DAX measures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" y="322783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Windows PC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" y="373075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internet required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0" y="1097280"/>
            <a:ext cx="26517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1097280"/>
            <a:ext cx="2651760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112471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Power BI Service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349240" y="1143000"/>
            <a:ext cx="438912" cy="219456"/>
          </a:xfrm>
          <a:prstGeom prst="roundRect">
            <a:avLst>
              <a:gd name="adj" fmla="val 20833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30952" y="115214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310128" y="171907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&amp; share reports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10128" y="222199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browser access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10128" y="272491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data refresh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10128" y="322783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Collaborate with teams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10128" y="373075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(limited) / Pro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35040" y="1097280"/>
            <a:ext cx="26517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35040" y="1097280"/>
            <a:ext cx="2651760" cy="5029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112471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Power BI Mobile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183880" y="1143000"/>
            <a:ext cx="438912" cy="219456"/>
          </a:xfrm>
          <a:prstGeom prst="roundRect">
            <a:avLst>
              <a:gd name="adj" fmla="val 20833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65592" y="115214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App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6144768" y="171907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on iOS &amp; Android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44768" y="222199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Touch-optimized dashboards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44768" y="272491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44768" y="322783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Power BI Service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44768" y="373075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 alerts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4736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E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For this course we use Power BI Desktop — download free at powerbi.microsoft.com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 Workflow in Power BI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|  Slide 4 of 6  — From raw data to actionable insights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914400" y="1188720"/>
            <a:ext cx="822960" cy="822960"/>
          </a:xfrm>
          <a:prstGeom prst="ellipse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188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212140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4231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E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to your data source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783080" y="1600200"/>
            <a:ext cx="411480" cy="0"/>
          </a:xfrm>
          <a:prstGeom prst="line">
            <a:avLst/>
          </a:prstGeom>
          <a:noFill/>
          <a:ln w="19050">
            <a:solidFill>
              <a:srgbClr val="5E7FA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78608" y="1188720"/>
            <a:ext cx="822960" cy="82296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78608" y="1188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167128" y="212140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67128" y="24231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E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shape in Power Query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47288" y="1600200"/>
            <a:ext cx="411480" cy="0"/>
          </a:xfrm>
          <a:prstGeom prst="line">
            <a:avLst/>
          </a:prstGeom>
          <a:noFill/>
          <a:ln w="19050">
            <a:solidFill>
              <a:srgbClr val="5E7FA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42816" y="1188720"/>
            <a:ext cx="822960" cy="8229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42816" y="1188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831336" y="212140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831336" y="24231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E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tables &amp; relationships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111496" y="1600200"/>
            <a:ext cx="411480" cy="0"/>
          </a:xfrm>
          <a:prstGeom prst="line">
            <a:avLst/>
          </a:prstGeom>
          <a:noFill/>
          <a:ln w="19050">
            <a:solidFill>
              <a:srgbClr val="5E7FA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07024" y="1188720"/>
            <a:ext cx="822960" cy="82296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07024" y="1188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495544" y="212140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95544" y="24231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E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charts &amp; dashboards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775704" y="1600200"/>
            <a:ext cx="411480" cy="0"/>
          </a:xfrm>
          <a:prstGeom prst="line">
            <a:avLst/>
          </a:prstGeom>
          <a:noFill/>
          <a:ln w="19050">
            <a:solidFill>
              <a:srgbClr val="5E7FA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71232" y="1188720"/>
            <a:ext cx="822960" cy="82296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71232" y="1188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7159752" y="212140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159752" y="24231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E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to Power BI Service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2920" y="2971800"/>
            <a:ext cx="1645920" cy="1645920"/>
          </a:xfrm>
          <a:prstGeom prst="rect">
            <a:avLst/>
          </a:prstGeom>
          <a:solidFill>
            <a:srgbClr val="F4F7FA"/>
          </a:solidFill>
          <a:ln w="12700">
            <a:solidFill>
              <a:srgbClr val="D0E4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76072" y="301752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Data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76072" y="3291840"/>
            <a:ext cx="1508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Excel, CSV, SQL Server, SharePoint, Web, Azure, Google Analytics and 100+ more sources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167128" y="2971800"/>
            <a:ext cx="1645920" cy="1645920"/>
          </a:xfrm>
          <a:prstGeom prst="rect">
            <a:avLst/>
          </a:prstGeom>
          <a:solidFill>
            <a:srgbClr val="F4F7FA"/>
          </a:solidFill>
          <a:ln w="12700">
            <a:solidFill>
              <a:srgbClr val="D0E4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240280" y="301752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240280" y="3291840"/>
            <a:ext cx="1508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duplicates, fill blanks, change types, split columns, merge tables, filter rows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831336" y="2971800"/>
            <a:ext cx="1645920" cy="1645920"/>
          </a:xfrm>
          <a:prstGeom prst="rect">
            <a:avLst/>
          </a:prstGeom>
          <a:solidFill>
            <a:srgbClr val="F4F7FA"/>
          </a:solidFill>
          <a:ln w="12700">
            <a:solidFill>
              <a:srgbClr val="D0E4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904488" y="301752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904488" y="3291840"/>
            <a:ext cx="1508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schema, fact/dimension tables, one-to-many relationships, hierarchies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495544" y="2971800"/>
            <a:ext cx="1645920" cy="1645920"/>
          </a:xfrm>
          <a:prstGeom prst="rect">
            <a:avLst/>
          </a:prstGeom>
          <a:solidFill>
            <a:srgbClr val="F4F7FA"/>
          </a:solidFill>
          <a:ln w="12700">
            <a:solidFill>
              <a:srgbClr val="D0E4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568696" y="301752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View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68696" y="3291840"/>
            <a:ext cx="1508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Bar, line, pie, map, card, matrix, scatter, funnel, gauge and custom visuals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159752" y="2971800"/>
            <a:ext cx="1645920" cy="1645920"/>
          </a:xfrm>
          <a:prstGeom prst="rect">
            <a:avLst/>
          </a:prstGeom>
          <a:solidFill>
            <a:srgbClr val="F4F7FA"/>
          </a:solidFill>
          <a:ln w="12700">
            <a:solidFill>
              <a:srgbClr val="D0E4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7232904" y="301752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232904" y="3291840"/>
            <a:ext cx="1508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browser, mobile app, embed in SharePoint, Teams or custom websites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to Data Sources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|  Slide 5 of 6  — Power BI connects to virtually any data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1148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4114800" cy="347472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1887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Sources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55448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Workbook (.xlsx)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81051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/ Text files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06654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&amp; JSON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32257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files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5786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of files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143000"/>
            <a:ext cx="41148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143000"/>
            <a:ext cx="411480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64608" y="11887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Sources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155448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181051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/ PostgreSQL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206654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Database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92040" y="232257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Database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25786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SQL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063240"/>
            <a:ext cx="41148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063240"/>
            <a:ext cx="4114800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31089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Services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347472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Online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373075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Analytics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398678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" y="424281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449884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Datasets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063240"/>
            <a:ext cx="41148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063240"/>
            <a:ext cx="4114800" cy="3474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64608" y="31089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Sources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92040" y="347472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page (URL)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92040" y="373075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OData Feed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92040" y="398678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Query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92040" y="424281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Script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92040" y="449884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Script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— Data Transformation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|  Slide 1 of 4  — Clean and shape data before loading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is Power BI's built-in ETL (Extract, Transform, Load) engine. Every transformation step is recorded automatically — you can edit or delete steps at any time.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54480"/>
            <a:ext cx="64008" cy="1417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6459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565C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🗑️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30352" y="162763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Errors &amp; Blanks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0352" y="1901952"/>
            <a:ext cx="23957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empty rows, remove null values, filter out error cells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55448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554480"/>
            <a:ext cx="64008" cy="1417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6459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565C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🔤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364992" y="162763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Data Types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64992" y="1901952"/>
            <a:ext cx="23957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correct types: Text, Number, Date, True/False, Currency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155448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554480"/>
            <a:ext cx="64008" cy="1417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16459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565C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✂️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199632" y="162763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&amp; Merge Columns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99632" y="1901952"/>
            <a:ext cx="23957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'Full Name' into First/Last; merge date + time columns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127248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127248"/>
            <a:ext cx="64008" cy="1417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21868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565C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🔢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30352" y="32004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Custom Columns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0352" y="3474720"/>
            <a:ext cx="23957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M-language formulas to calculate new derived fields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0" y="3127248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0" y="3127248"/>
            <a:ext cx="64008" cy="1417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37560" y="321868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565C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📋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364992" y="32004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&amp; Unpivot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364992" y="3474720"/>
            <a:ext cx="23957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Reshape wide tables to long format (unpivot) for better modeling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035040" y="3127248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35040" y="3127248"/>
            <a:ext cx="64008" cy="1417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72200" y="321868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565C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🔗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199632" y="32004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Queries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199632" y="3474720"/>
            <a:ext cx="23957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two tables on a common key — like SQL INNER/LEFT JOIN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0A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 in Power BI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|  Slide 2 of 4  — Building relationships between tables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108960" y="2057400"/>
            <a:ext cx="1645920" cy="1005840"/>
          </a:xfrm>
          <a:prstGeom prst="rect">
            <a:avLst/>
          </a:prstGeom>
          <a:solidFill>
            <a:srgbClr val="0A3D6B"/>
          </a:solidFill>
          <a:ln w="12700">
            <a:solidFill>
              <a:srgbClr val="0A3D6B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108960" y="20574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TABLE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2880" y="2057400"/>
            <a:ext cx="1645920" cy="100584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82880" y="20574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05840" y="2560320"/>
            <a:ext cx="2926080" cy="0"/>
          </a:xfrm>
          <a:prstGeom prst="line">
            <a:avLst/>
          </a:prstGeom>
          <a:noFill/>
          <a:ln w="19050">
            <a:solidFill>
              <a:srgbClr val="5E7FA0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6035040" y="2057400"/>
            <a:ext cx="1645920" cy="1005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0" y="20574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931920" y="2560320"/>
            <a:ext cx="2926080" cy="0"/>
          </a:xfrm>
          <a:prstGeom prst="line">
            <a:avLst/>
          </a:prstGeom>
          <a:noFill/>
          <a:ln w="19050">
            <a:solidFill>
              <a:srgbClr val="5E7FA0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3108960" y="457200"/>
            <a:ext cx="1645920" cy="10058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108960" y="4572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931920" y="960120"/>
            <a:ext cx="0" cy="1600200"/>
          </a:xfrm>
          <a:prstGeom prst="line">
            <a:avLst/>
          </a:prstGeom>
          <a:noFill/>
          <a:ln w="19050">
            <a:solidFill>
              <a:srgbClr val="5E7FA0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3108960" y="3657600"/>
            <a:ext cx="1645920" cy="10058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108960" y="36576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931920" y="2560320"/>
            <a:ext cx="0" cy="1600200"/>
          </a:xfrm>
          <a:prstGeom prst="line">
            <a:avLst/>
          </a:prstGeom>
          <a:noFill/>
          <a:ln w="19050">
            <a:solidFill>
              <a:srgbClr val="5E7FA0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6217920" y="1051560"/>
            <a:ext cx="26517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0" y="1051560"/>
            <a:ext cx="64008" cy="114300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10972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0" y="13716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fact table surrounded by dimension tables — the recommended Power BI model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81928" y="2377440"/>
            <a:ext cx="2587752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17920" y="2377440"/>
            <a:ext cx="64008" cy="114300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24231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0" y="2697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One-to-Many (1:*) is most common; defined by matching key columns in both tables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17920" y="3703320"/>
            <a:ext cx="26517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17920" y="3703320"/>
            <a:ext cx="64008" cy="114300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37490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0" y="40233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Power BI how rows in one table match rows in another (1:1, 1:*, *:*)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 — Interface Overview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|  Slide 3 of 4  — Know your workspace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241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   Home   Insert   Modeling   View   Help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365760" cy="315468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417320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AAAA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📊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" y="1920240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AAAA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📋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" y="2423160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AAAA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🔗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41248" y="1325880"/>
            <a:ext cx="5486400" cy="315468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0" y="22860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Canvas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(Build visuals here)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45936" y="1325880"/>
            <a:ext cx="1143000" cy="1508760"/>
          </a:xfrm>
          <a:prstGeom prst="rect">
            <a:avLst/>
          </a:prstGeom>
          <a:solidFill>
            <a:srgbClr val="252526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371600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507224" y="1325880"/>
            <a:ext cx="1161288" cy="1508760"/>
          </a:xfrm>
          <a:prstGeom prst="rect">
            <a:avLst/>
          </a:prstGeom>
          <a:solidFill>
            <a:srgbClr val="252526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43800" y="137160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Visualizations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345936" y="2862072"/>
            <a:ext cx="2322576" cy="1618488"/>
          </a:xfrm>
          <a:prstGeom prst="rect">
            <a:avLst/>
          </a:prstGeom>
          <a:solidFill>
            <a:srgbClr val="252526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290779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Fields / Data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455371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Ribbon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(Menus &amp; actions)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371600" y="455371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View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743200" y="455371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Report Canvas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(Drag visuals here)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760720" y="455371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Filters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58000" y="455371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Visuals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955280" y="455371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Fields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Visualizations in Power BI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|  Slide 1 of 3  — Choosing the right chart for your data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920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1887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📊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/ Column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categories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8912" y="2121408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E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Best for &lt;10 categories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68880" y="1097280"/>
            <a:ext cx="1920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68880" y="11887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📈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468880" y="16002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60320" y="187452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over time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42032" y="2121408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E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Use for time series data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0" y="1097280"/>
            <a:ext cx="1920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0" y="11887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🥧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572000" y="16002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/ Donut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187452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Part-of-whole 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45152" y="2121408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E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Use max 5-6 slices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675120" y="1097280"/>
            <a:ext cx="1920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675120" y="11887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🗺️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675120" y="16002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66560" y="187452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data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748272" y="2121408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E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Needs location field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2880360"/>
            <a:ext cx="1920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65760" y="29718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🃏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65760" y="33832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/ KPI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365760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key metric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38912" y="3904488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E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Great for dashboards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468880" y="2880360"/>
            <a:ext cx="1920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2468880" y="29718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📋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2468880" y="33832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/ Matrix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560320" y="365760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data view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542032" y="3904488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E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Matrix = pivot table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0" y="2880360"/>
            <a:ext cx="1920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572000" y="29718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⭕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4572000" y="33832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663440" y="365760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analysis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645152" y="3904488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E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X vs Y relationship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675120" y="2880360"/>
            <a:ext cx="1920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675120" y="29718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🌡️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6675120" y="33832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Gauge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766560" y="365760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vs actual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748272" y="3904488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E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Sales vs target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vs Dashboards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|  Slide 2 of 3  — Understanding the difference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3840480" cy="3520440"/>
          </a:xfrm>
          <a:prstGeom prst="rect">
            <a:avLst/>
          </a:prstGeom>
          <a:solidFill>
            <a:srgbClr val="F4F7FA"/>
          </a:solidFill>
          <a:ln w="12700">
            <a:solidFill>
              <a:srgbClr val="D0E4F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78992"/>
            <a:ext cx="384048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REPORT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" y="158191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Multi-page document (pages = tabs)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0352" y="192938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in Power BI Desktop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0352" y="227685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into data details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262432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Interactive: click to filter/drill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0352" y="297180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page = related set of visuals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0352" y="331927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to Power BI Service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0352" y="366674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embedded in websites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0352" y="401421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Downloaded as PDF or PowerPoint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37760" y="1078992"/>
            <a:ext cx="3840480" cy="3520440"/>
          </a:xfrm>
          <a:prstGeom prst="rect">
            <a:avLst/>
          </a:prstGeom>
          <a:solidFill>
            <a:srgbClr val="F4F7FA"/>
          </a:solidFill>
          <a:ln w="12700">
            <a:solidFill>
              <a:srgbClr val="D0E4F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37760" y="1078992"/>
            <a:ext cx="3840480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492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DASHBOARD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102352" y="158191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page (pin visuals from reports)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02352" y="192938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in Power BI Service (cloud)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02352" y="227685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executive overview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02352" y="262432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Pinned tiles from one or more reports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02352" y="297180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 streaming support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02352" y="331927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with colleagues easily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02352" y="366674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data alerts on KPI tiles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02352" y="401421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Mobile-optimized view available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315968" y="2395728"/>
            <a:ext cx="512064" cy="512064"/>
          </a:xfrm>
          <a:prstGeom prst="ellipse">
            <a:avLst/>
          </a:prstGeom>
          <a:solidFill>
            <a:srgbClr val="0A3D6B"/>
          </a:solidFill>
          <a:ln w="12700">
            <a:solidFill>
              <a:srgbClr val="0A3D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15968" y="23957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Slicers, Filters &amp; Interactions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|  Slide 3 of 3  — Making reports interactive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64008" cy="160020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344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A8E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🎚️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30352" y="121615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0352" y="1490472"/>
            <a:ext cx="23957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On-canvas filter controls. Users click to filter the whole report page. Types: List, Dropdown, Date range slider, Relative date (last 7 days), Between (numeric range).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14300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143000"/>
            <a:ext cx="64008" cy="1600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2344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565C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🔽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364992" y="121615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Pane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64992" y="1490472"/>
            <a:ext cx="23957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Right-side panel with three levels: Visual-level (one chart only), Page-level (entire page), Report-level (all pages). Can be locked or hidden from end-users.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114300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143000"/>
            <a:ext cx="64008" cy="1600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2344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5A62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🖱️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199632" y="121615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Cross-Filtering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99632" y="1490472"/>
            <a:ext cx="23957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Clicking a bar in one chart automatically filters all other visuals on the page. Power BI does this automatically using your data model relationships.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92608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926080"/>
            <a:ext cx="64008" cy="1600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0175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7AE6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🔍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0352" y="299923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 Through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0352" y="3273552"/>
            <a:ext cx="23957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Right-click a data point to jump to a detail page about that specific item. E.g., right-click 'London' to see a page showing only London data.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0" y="292608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2926080"/>
            <a:ext cx="64008" cy="16002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30175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74C3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🔑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364992" y="299923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64992" y="3273552"/>
            <a:ext cx="23957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data visibility per user. A regional manager sees only their region's data. Defined using DAX filter expressions in the Modeling tab.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35040" y="292608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35040" y="2926080"/>
            <a:ext cx="64008" cy="1600200"/>
          </a:xfrm>
          <a:prstGeom prst="rect">
            <a:avLst/>
          </a:prstGeom>
          <a:solidFill>
            <a:srgbClr val="0A3D6B"/>
          </a:solidFill>
          <a:ln w="12700">
            <a:solidFill>
              <a:srgbClr val="0A3D6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72200" y="30175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A3D6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📱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199632" y="299923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Bookmarks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99632" y="3273552"/>
            <a:ext cx="23957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current filter state of a report as a bookmark. Use with buttons to create interactive storytelling — like presentation slides within a report.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DAX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 |  Slide 1 of 3  — Data Analysis Expressions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is the formula language of Power BI — similar to Excel formulas but designed for relational data models.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481328"/>
            <a:ext cx="4206240" cy="987552"/>
          </a:xfrm>
          <a:prstGeom prst="rect">
            <a:avLst/>
          </a:prstGeom>
          <a:solidFill>
            <a:srgbClr val="F4F7FA"/>
          </a:solidFill>
          <a:ln w="12700">
            <a:solidFill>
              <a:srgbClr val="D0E4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481328"/>
            <a:ext cx="4206240" cy="256032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50876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— Total Sales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38912" y="1801368"/>
            <a:ext cx="4059936" cy="54864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" y="1819656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8E6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Sales = SUM(Sales[SalesAmount])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481328"/>
            <a:ext cx="4206240" cy="987552"/>
          </a:xfrm>
          <a:prstGeom prst="rect">
            <a:avLst/>
          </a:prstGeom>
          <a:solidFill>
            <a:srgbClr val="F4F7FA"/>
          </a:solidFill>
          <a:ln w="12700">
            <a:solidFill>
              <a:srgbClr val="D0E4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481328"/>
            <a:ext cx="4206240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64608" y="150876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28032" y="1801368"/>
            <a:ext cx="4059936" cy="54864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01184" y="1819656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8E6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 Sale = AVERAGE(Sales[SalesAmount])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642616"/>
            <a:ext cx="4206240" cy="987552"/>
          </a:xfrm>
          <a:prstGeom prst="rect">
            <a:avLst/>
          </a:prstGeom>
          <a:solidFill>
            <a:srgbClr val="F4F7FA"/>
          </a:solidFill>
          <a:ln w="12700">
            <a:solidFill>
              <a:srgbClr val="D0E4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642616"/>
            <a:ext cx="420624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67004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ROWS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38912" y="2962656"/>
            <a:ext cx="4059936" cy="54864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" y="2980944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8E6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Orders = COUNTROWS(Sales)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2642616"/>
            <a:ext cx="4206240" cy="987552"/>
          </a:xfrm>
          <a:prstGeom prst="rect">
            <a:avLst/>
          </a:prstGeom>
          <a:solidFill>
            <a:srgbClr val="F4F7FA"/>
          </a:solidFill>
          <a:ln w="12700">
            <a:solidFill>
              <a:srgbClr val="D0E4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2642616"/>
            <a:ext cx="4206240" cy="2560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64608" y="267004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— Filtered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28032" y="2962656"/>
            <a:ext cx="4059936" cy="54864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01184" y="2980944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8E6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Online Sales = CALCULATE(SUM(Sales[Amount]), Sales[Channel]="Online")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803904"/>
            <a:ext cx="4206240" cy="987552"/>
          </a:xfrm>
          <a:prstGeom prst="rect">
            <a:avLst/>
          </a:prstGeom>
          <a:solidFill>
            <a:srgbClr val="F4F7FA"/>
          </a:solidFill>
          <a:ln w="12700">
            <a:solidFill>
              <a:srgbClr val="D0E4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3803904"/>
            <a:ext cx="4206240" cy="2560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" y="383133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Statement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38912" y="4123944"/>
            <a:ext cx="4059936" cy="54864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" y="4142232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8E6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 = IF(Sales[Amount]&gt;1000, "High", "Low")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3803904"/>
            <a:ext cx="4206240" cy="987552"/>
          </a:xfrm>
          <a:prstGeom prst="rect">
            <a:avLst/>
          </a:prstGeom>
          <a:solidFill>
            <a:srgbClr val="F4F7FA"/>
          </a:solidFill>
          <a:ln w="12700">
            <a:solidFill>
              <a:srgbClr val="D0E4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3803904"/>
            <a:ext cx="4206240" cy="256032"/>
          </a:xfrm>
          <a:prstGeom prst="rect">
            <a:avLst/>
          </a:prstGeom>
          <a:solidFill>
            <a:srgbClr val="0A3D6B"/>
          </a:solidFill>
          <a:ln w="12700">
            <a:solidFill>
              <a:srgbClr val="0A3D6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64608" y="383133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(safe division)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28032" y="4123944"/>
            <a:ext cx="4059936" cy="54864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01184" y="4142232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8E6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Profit % = DIVIDE([Profit], [Revenue], 0)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Columns vs Measures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 |  Slide 2 of 3  — Two ways to create DAX calculations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39319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78992"/>
            <a:ext cx="393192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972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  CALCULATED COLUMN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" y="157276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 new column to your table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0352" y="19659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ROW BY ROW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0352" y="235915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stored in the data model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275234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row context (current row)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0352" y="314553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in the Fields pane ✅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0352" y="35387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Profit = Revenue - Cost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0352" y="39319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FullName = [First]&amp;" "&amp;[Last]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0352" y="43251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for: categorizing, text merging, row-level flags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1078992"/>
            <a:ext cx="39319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1078992"/>
            <a:ext cx="3931920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10972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∑  MEASURE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10912" y="157276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virtual calculation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10912" y="19659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at QUERY time (when visual renders)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10912" y="235915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NOT stored — computed live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10912" y="275234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filter context (what user has selected)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10912" y="314553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with ∑ icon in Fields pane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10912" y="35387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Total Sales = SUM(Sales[Amount])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10912" y="39319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YTD Sales = TOTALYTD([Sales], Dates[Date])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10912" y="43251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for: aggregations, KPIs, ratios, time intelligence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325112" y="2560320"/>
            <a:ext cx="493776" cy="493776"/>
          </a:xfrm>
          <a:prstGeom prst="ellipse">
            <a:avLst/>
          </a:prstGeom>
          <a:solidFill>
            <a:srgbClr val="0A3D6B"/>
          </a:solidFill>
          <a:ln w="12700">
            <a:solidFill>
              <a:srgbClr val="0A3D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25112" y="256032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 &amp; Sharing Reports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 |  Slide 3 of 3  — Getting your work out to the world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" y="1207008"/>
            <a:ext cx="347472" cy="347472"/>
          </a:xfrm>
          <a:prstGeom prst="ellipse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207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96112" y="120700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to Power BI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3776" y="1572768"/>
            <a:ext cx="2450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Microsoft account (free) or work/school account. Click Sign In top-right in Power BI Desktop.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115568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10128" y="1207008"/>
            <a:ext cx="347472" cy="34747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0128" y="1207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30752" y="120700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Publish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28416" y="1572768"/>
            <a:ext cx="2450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tab → Publish button → Select 'My Workspace' destination. Wait for upload to complete.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1115568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44768" y="1207008"/>
            <a:ext cx="347472" cy="34747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44768" y="1207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65392" y="120700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 Browser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63056" y="1572768"/>
            <a:ext cx="2450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link shown to open your report in Power BI Service at app.powerbi.com — accessible from anywhere.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944368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" y="3035808"/>
            <a:ext cx="347472" cy="3474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0358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96112" y="303580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Dashboard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3776" y="3401568"/>
            <a:ext cx="2450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a visual → Click Pin icon → Pin to a new or existing Dashboard for a one-page summary view.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0" y="2944368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10128" y="3035808"/>
            <a:ext cx="347472" cy="3474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10128" y="30358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730752" y="303580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with Others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28416" y="3401568"/>
            <a:ext cx="2450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Share button → Enter email addresses → Grant View or Edit permissions. Free (limited) or Pro licence.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35040" y="2944368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44768" y="3035808"/>
            <a:ext cx="347472" cy="347472"/>
          </a:xfrm>
          <a:prstGeom prst="ellipse">
            <a:avLst/>
          </a:prstGeom>
          <a:solidFill>
            <a:srgbClr val="0A3D6B"/>
          </a:solidFill>
          <a:ln w="12700">
            <a:solidFill>
              <a:srgbClr val="0A3D6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44768" y="30358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565392" y="303580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Refresh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63056" y="3401568"/>
            <a:ext cx="2450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Power BI Service, set automatic data refresh (e.g. daily at 6am) so reports always show current data.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3D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Summary — Key Takeaways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4 parts before the hands-on lab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4114800" cy="1719072"/>
          </a:xfrm>
          <a:prstGeom prst="rect">
            <a:avLst/>
          </a:prstGeom>
          <a:solidFill>
            <a:srgbClr val="0D2D4A"/>
          </a:solidFill>
          <a:ln w="12700">
            <a:solidFill>
              <a:srgbClr val="1A4D7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78992"/>
            <a:ext cx="4114800" cy="32004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1155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·  BI Fundamentals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93776" y="146304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B0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converts data → insights → decisions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93776" y="179222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B0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BI: free, industry-leading, 100+ connectors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3776" y="212140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B0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Ecosystem: Desktop → Service → Mobile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93776" y="245059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B0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Workflow: Connect → Transform → Model → Visualize → Share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078992"/>
            <a:ext cx="4114800" cy="1719072"/>
          </a:xfrm>
          <a:prstGeom prst="rect">
            <a:avLst/>
          </a:prstGeom>
          <a:solidFill>
            <a:srgbClr val="0D2D4A"/>
          </a:solidFill>
          <a:ln w="12700">
            <a:solidFill>
              <a:srgbClr val="1A4D7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078992"/>
            <a:ext cx="4114800" cy="32004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64608" y="11155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·  Data &amp; Modeling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82896" y="146304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B0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Query: clean data before loading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82896" y="179222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B0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steps auto-recorded, always editable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82896" y="212140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B0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schema: 1 fact table + dimension tables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82896" y="245059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B0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drive cross-filtering automatically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953512"/>
            <a:ext cx="4114800" cy="1719072"/>
          </a:xfrm>
          <a:prstGeom prst="rect">
            <a:avLst/>
          </a:prstGeom>
          <a:solidFill>
            <a:srgbClr val="0D2D4A"/>
          </a:solidFill>
          <a:ln w="12700">
            <a:solidFill>
              <a:srgbClr val="1A4D7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953512"/>
            <a:ext cx="4114800" cy="32004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29900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·  Visuals &amp; Reports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3776" y="333756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B0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visual type to your data story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3776" y="366674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B0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= multi-page; Dashboards = 1-page summary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3776" y="399592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B0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 = on-canvas interactive filters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3776" y="432511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B0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Cross-filtering and drill-through are automatic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2953512"/>
            <a:ext cx="4114800" cy="1719072"/>
          </a:xfrm>
          <a:prstGeom prst="rect">
            <a:avLst/>
          </a:prstGeom>
          <a:solidFill>
            <a:srgbClr val="0D2D4A"/>
          </a:solidFill>
          <a:ln w="12700">
            <a:solidFill>
              <a:srgbClr val="1A4D7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2953512"/>
            <a:ext cx="4114800" cy="32004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64608" y="29900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 ·  DAX &amp; Publishing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82896" y="333756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B0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= live aggregations (preferred)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82896" y="366674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B0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Columns = row-level storage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82896" y="399592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B0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SUM, AVERAGE, CALCULATE, IF, DIVIDE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82896" y="432511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B0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→ Pin → Share → Schedule Refresh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731520"/>
            <a:ext cx="4572000" cy="4572000"/>
          </a:xfrm>
          <a:prstGeom prst="ellipse">
            <a:avLst/>
          </a:prstGeom>
          <a:solidFill>
            <a:srgbClr val="0A3050">
              <a:alpha val="80000"/>
            </a:srgbClr>
          </a:solidFill>
          <a:ln w="12700">
            <a:solidFill>
              <a:srgbClr val="0A30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182880"/>
            <a:ext cx="3200400" cy="3200400"/>
          </a:xfrm>
          <a:prstGeom prst="ellipse">
            <a:avLst/>
          </a:prstGeom>
          <a:solidFill>
            <a:srgbClr val="27AE60">
              <a:alpha val="22000"/>
            </a:srgbClr>
          </a:solidFill>
          <a:ln w="12700">
            <a:solidFill>
              <a:srgbClr val="27AE60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28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HANDS-ON LAB PRACTICAL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Practical: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61872"/>
            <a:ext cx="7315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Performance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Pay Grade Dashboard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48640" y="290779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teacher KPIs and generate pay grade recommendations in 60 minutes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3375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Import CSV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48840" y="33375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Clean &amp; Type Data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749040" y="33375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DAX Measures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49240" y="33375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Build Visuals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949440" y="33375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Slicer &amp; Polish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727448"/>
            <a:ext cx="8229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Duration: 60 minutes   |   Tool: Power BI Desktop (free)   |   Dataset: SchoolTeachers_Performance.csv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LAB PRACTICAL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0" y="18288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PRE-LAB  |  Setup &amp; Dataset — 5 minutes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SchoolTeachers_Performance.csv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896112"/>
            <a:ext cx="4160520" cy="475488"/>
          </a:xfrm>
          <a:prstGeom prst="rect">
            <a:avLst/>
          </a:prstGeom>
          <a:solidFill>
            <a:srgbClr val="0F2D45"/>
          </a:solidFill>
          <a:ln w="12700">
            <a:solidFill>
              <a:srgbClr val="1A4D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896112"/>
            <a:ext cx="54864" cy="475488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" y="93268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TeacherID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93776" y="113385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ID for each teacher (T001–T200)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1463040"/>
            <a:ext cx="4160520" cy="475488"/>
          </a:xfrm>
          <a:prstGeom prst="rect">
            <a:avLst/>
          </a:prstGeom>
          <a:solidFill>
            <a:srgbClr val="0F2D45"/>
          </a:solidFill>
          <a:ln w="12700">
            <a:solidFill>
              <a:srgbClr val="1A4D7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463040"/>
            <a:ext cx="54864" cy="47548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" y="149961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3776" y="170078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full name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029968"/>
            <a:ext cx="4160520" cy="475488"/>
          </a:xfrm>
          <a:prstGeom prst="rect">
            <a:avLst/>
          </a:prstGeom>
          <a:solidFill>
            <a:srgbClr val="0F2D45"/>
          </a:solidFill>
          <a:ln w="12700">
            <a:solidFill>
              <a:srgbClr val="1A4D7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029968"/>
            <a:ext cx="54864" cy="475488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" y="206654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" y="226771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dept: Math, Science, English, ICT, Arts, PE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2596896"/>
            <a:ext cx="4160520" cy="475488"/>
          </a:xfrm>
          <a:prstGeom prst="rect">
            <a:avLst/>
          </a:prstGeom>
          <a:solidFill>
            <a:srgbClr val="0F2D45"/>
          </a:solidFill>
          <a:ln w="12700">
            <a:solidFill>
              <a:srgbClr val="1A4D7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596896"/>
            <a:ext cx="54864" cy="47548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" y="263347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YearsExperience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3776" y="283464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years teaching (1–35)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163824"/>
            <a:ext cx="4160520" cy="475488"/>
          </a:xfrm>
          <a:prstGeom prst="rect">
            <a:avLst/>
          </a:prstGeom>
          <a:solidFill>
            <a:srgbClr val="0F2D45"/>
          </a:solidFill>
          <a:ln w="12700">
            <a:solidFill>
              <a:srgbClr val="1A4D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163824"/>
            <a:ext cx="54864" cy="475488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" y="32004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QualificationLevel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3776" y="340156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Diploma / Bachelor / Master / PhD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3730752"/>
            <a:ext cx="4160520" cy="475488"/>
          </a:xfrm>
          <a:prstGeom prst="rect">
            <a:avLst/>
          </a:prstGeom>
          <a:solidFill>
            <a:srgbClr val="0F2D45"/>
          </a:solidFill>
          <a:ln w="12700">
            <a:solidFill>
              <a:srgbClr val="1A4D7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3730752"/>
            <a:ext cx="54864" cy="47548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" y="376732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ClassesPerWeek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3776" y="396849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classes taught per week (10–30)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" y="4297680"/>
            <a:ext cx="4160520" cy="475488"/>
          </a:xfrm>
          <a:prstGeom prst="rect">
            <a:avLst/>
          </a:prstGeom>
          <a:solidFill>
            <a:srgbClr val="0F2D45"/>
          </a:solidFill>
          <a:ln w="12700">
            <a:solidFill>
              <a:srgbClr val="1A4D7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4297680"/>
            <a:ext cx="54864" cy="475488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" y="433425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StudentPassRate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93776" y="453542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students who passed end-of-term exam (40–100)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09160" y="896112"/>
            <a:ext cx="4160520" cy="475488"/>
          </a:xfrm>
          <a:prstGeom prst="rect">
            <a:avLst/>
          </a:prstGeom>
          <a:solidFill>
            <a:srgbClr val="0F2D45"/>
          </a:solidFill>
          <a:ln w="12700">
            <a:solidFill>
              <a:srgbClr val="1A4D7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09160" y="896112"/>
            <a:ext cx="54864" cy="47548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37176" y="93268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PeerReviewScore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37176" y="113385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from fellow teachers review panel (1–10)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09160" y="1463040"/>
            <a:ext cx="4160520" cy="475488"/>
          </a:xfrm>
          <a:prstGeom prst="rect">
            <a:avLst/>
          </a:prstGeom>
          <a:solidFill>
            <a:srgbClr val="0F2D45"/>
          </a:solidFill>
          <a:ln w="12700">
            <a:solidFill>
              <a:srgbClr val="1A4D7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09160" y="1463040"/>
            <a:ext cx="54864" cy="475488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37176" y="149961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PrincipalRating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37176" y="170078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given by the school principal (1–10)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709160" y="2029968"/>
            <a:ext cx="4160520" cy="475488"/>
          </a:xfrm>
          <a:prstGeom prst="rect">
            <a:avLst/>
          </a:prstGeom>
          <a:solidFill>
            <a:srgbClr val="0F2D45"/>
          </a:solidFill>
          <a:ln w="12700">
            <a:solidFill>
              <a:srgbClr val="1A4D7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09160" y="2029968"/>
            <a:ext cx="54864" cy="47548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37176" y="206654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TrainingHoursPerYear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837176" y="226771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CPD hours completed this year (0–80)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709160" y="2596896"/>
            <a:ext cx="4160520" cy="475488"/>
          </a:xfrm>
          <a:prstGeom prst="rect">
            <a:avLst/>
          </a:prstGeom>
          <a:solidFill>
            <a:srgbClr val="0F2D45"/>
          </a:solidFill>
          <a:ln w="12700">
            <a:solidFill>
              <a:srgbClr val="1A4D7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709160" y="2596896"/>
            <a:ext cx="54864" cy="475488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37176" y="263347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837176" y="283464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absent this academic year (0–30)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709160" y="3163824"/>
            <a:ext cx="4160520" cy="475488"/>
          </a:xfrm>
          <a:prstGeom prst="rect">
            <a:avLst/>
          </a:prstGeom>
          <a:solidFill>
            <a:srgbClr val="0F2D45"/>
          </a:solidFill>
          <a:ln w="12700">
            <a:solidFill>
              <a:srgbClr val="1A4D7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09160" y="3163824"/>
            <a:ext cx="54864" cy="47548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37176" y="32004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CurrentGrade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837176" y="340156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pay grade: G1 (lowest) to G5 (highest)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709160" y="3730752"/>
            <a:ext cx="4160520" cy="475488"/>
          </a:xfrm>
          <a:prstGeom prst="rect">
            <a:avLst/>
          </a:prstGeom>
          <a:solidFill>
            <a:srgbClr val="0F2D45"/>
          </a:solidFill>
          <a:ln w="12700">
            <a:solidFill>
              <a:srgbClr val="1A4D7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709160" y="3730752"/>
            <a:ext cx="54864" cy="475488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37176" y="376732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RecommendedGrade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837176" y="396849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System-recommended new grade after evaluation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709160" y="4297680"/>
            <a:ext cx="4160520" cy="475488"/>
          </a:xfrm>
          <a:prstGeom prst="rect">
            <a:avLst/>
          </a:prstGeom>
          <a:solidFill>
            <a:srgbClr val="0F2D45"/>
          </a:solidFill>
          <a:ln w="12700">
            <a:solidFill>
              <a:srgbClr val="1A4D7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709160" y="4297680"/>
            <a:ext cx="54864" cy="47548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37176" y="433425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SalaryUSD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4837176" y="453542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salary in USD (800–4500)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0F2D45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57200" y="4800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200 rows  ·  14 columns  ·  Free sample: kaggle.com  →  search 'teacher performance evaluation dataset'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LAB PRACTICAL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0" y="18288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0:00 – 0:12  |  12 minutes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5603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Connect &amp; Load the Dataset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4114800" cy="1874520"/>
          </a:xfrm>
          <a:prstGeom prst="rect">
            <a:avLst/>
          </a:prstGeom>
          <a:solidFill>
            <a:srgbClr val="0F2D45"/>
          </a:solidFill>
          <a:ln w="12700">
            <a:solidFill>
              <a:srgbClr val="00A8E8"/>
            </a:solidFill>
            <a:prstDash val="solid"/>
          </a:ln>
          <a:effectLst>
            <a:outerShdw blurRad="508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22960"/>
            <a:ext cx="64008" cy="187452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2064" y="950976"/>
            <a:ext cx="384048" cy="384048"/>
          </a:xfrm>
          <a:prstGeom prst="ellipse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950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969264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Power BI Desktop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12064" y="1417320"/>
            <a:ext cx="3840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Power BI Desktop from your Start Menu. Close the splash/welcome screen by clicking the X top-right.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36592" y="822960"/>
            <a:ext cx="4114800" cy="1874520"/>
          </a:xfrm>
          <a:prstGeom prst="rect">
            <a:avLst/>
          </a:prstGeom>
          <a:solidFill>
            <a:srgbClr val="0F2D45"/>
          </a:solidFill>
          <a:ln w="12700">
            <a:solidFill>
              <a:srgbClr val="1565C0"/>
            </a:solidFill>
            <a:prstDash val="solid"/>
          </a:ln>
          <a:effectLst>
            <a:outerShdw blurRad="508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36592" y="822960"/>
            <a:ext cx="64008" cy="18745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82896" y="950976"/>
            <a:ext cx="384048" cy="38404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82896" y="950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76672" y="969264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Data → Text/CSV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82896" y="1417320"/>
            <a:ext cx="3840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tab → Get Data → Text/CSV. Navigate to your Desktop → select SchoolTeachers_Performance.csv → click Open.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2880360"/>
            <a:ext cx="4114800" cy="1874520"/>
          </a:xfrm>
          <a:prstGeom prst="rect">
            <a:avLst/>
          </a:prstGeom>
          <a:solidFill>
            <a:srgbClr val="0F2D45"/>
          </a:solidFill>
          <a:ln w="12700">
            <a:solidFill>
              <a:srgbClr val="F5A623"/>
            </a:solidFill>
            <a:prstDash val="solid"/>
          </a:ln>
          <a:effectLst>
            <a:outerShdw blurRad="508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880360"/>
            <a:ext cx="64008" cy="18745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2064" y="3008376"/>
            <a:ext cx="384048" cy="38404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" y="3008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3026664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the Data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12064" y="3474720"/>
            <a:ext cx="3840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preview: 200 rows, 14 columns visible. Confirm headers match the dataset (TeacherID, Name, Department …). Do NOT click Load yet.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36592" y="2880360"/>
            <a:ext cx="4114800" cy="1874520"/>
          </a:xfrm>
          <a:prstGeom prst="rect">
            <a:avLst/>
          </a:prstGeom>
          <a:solidFill>
            <a:srgbClr val="0F2D45"/>
          </a:solidFill>
          <a:ln w="12700">
            <a:solidFill>
              <a:srgbClr val="27AE60"/>
            </a:solidFill>
            <a:prstDash val="solid"/>
          </a:ln>
          <a:effectLst>
            <a:outerShdw blurRad="508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36592" y="2880360"/>
            <a:ext cx="64008" cy="18745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82896" y="3008376"/>
            <a:ext cx="384048" cy="38404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82896" y="3008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76672" y="3026664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'Transform Data'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82896" y="3474720"/>
            <a:ext cx="3840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Transform Data to open Power Query Editor. We will clean the data here before loading it into the model.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LAB PRACTICAL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0" y="18288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0:12 – 0:25  |  13 minutes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5603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Clean Data in Power Query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4114800" cy="1664208"/>
          </a:xfrm>
          <a:prstGeom prst="rect">
            <a:avLst/>
          </a:prstGeom>
          <a:solidFill>
            <a:srgbClr val="0F2D45"/>
          </a:solidFill>
          <a:ln w="12700">
            <a:solidFill>
              <a:srgbClr val="00A8E8"/>
            </a:solidFill>
            <a:prstDash val="solid"/>
          </a:ln>
          <a:effectLst>
            <a:outerShdw blurRad="508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04672"/>
            <a:ext cx="64008" cy="1664208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2064" y="914400"/>
            <a:ext cx="347472" cy="347472"/>
          </a:xfrm>
          <a:prstGeom prst="ellipse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914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9264" y="923544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Correct Data Types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1316736"/>
            <a:ext cx="385876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YearsExperience, ClassesPerWeek, Absences, TrainingHoursPerYear → set to Whole Number.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StudentPassRate, PeerReviewScore, PrincipalRating, SalaryUSD → Decimal Number.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36592" y="804672"/>
            <a:ext cx="4114800" cy="1664208"/>
          </a:xfrm>
          <a:prstGeom prst="rect">
            <a:avLst/>
          </a:prstGeom>
          <a:solidFill>
            <a:srgbClr val="0F2D45"/>
          </a:solidFill>
          <a:ln w="12700">
            <a:solidFill>
              <a:srgbClr val="1565C0"/>
            </a:solidFill>
            <a:prstDash val="solid"/>
          </a:ln>
          <a:effectLst>
            <a:outerShdw blurRad="508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36592" y="804672"/>
            <a:ext cx="64008" cy="16642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82896" y="914400"/>
            <a:ext cx="347472" cy="34747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82896" y="914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40096" y="923544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for Null / Blank Rows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73752" y="1316736"/>
            <a:ext cx="385876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each column header → view the Column Quality bar at the bottom. If any column shows &lt; 100% Valid, right-click → Remove Empty. Confirm all 200 rows are retained.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615184"/>
            <a:ext cx="4114800" cy="1664208"/>
          </a:xfrm>
          <a:prstGeom prst="rect">
            <a:avLst/>
          </a:prstGeom>
          <a:solidFill>
            <a:srgbClr val="0F2D45"/>
          </a:solidFill>
          <a:ln w="12700">
            <a:solidFill>
              <a:srgbClr val="F5A623"/>
            </a:solidFill>
            <a:prstDash val="solid"/>
          </a:ln>
          <a:effectLst>
            <a:outerShdw blurRad="508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615184"/>
            <a:ext cx="64008" cy="16642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2064" y="2724912"/>
            <a:ext cx="347472" cy="34747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" y="27249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9264" y="2734056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&amp; Clean Text Columns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3127248"/>
            <a:ext cx="385876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Name, Department, QualificationLevel columns (Ctrl+click). Transform tab → Format → Trim. This removes accidental leading/trailing spaces from text values.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36592" y="2615184"/>
            <a:ext cx="4114800" cy="1664208"/>
          </a:xfrm>
          <a:prstGeom prst="rect">
            <a:avLst/>
          </a:prstGeom>
          <a:solidFill>
            <a:srgbClr val="0F2D45"/>
          </a:solidFill>
          <a:ln w="12700">
            <a:solidFill>
              <a:srgbClr val="27AE60"/>
            </a:solidFill>
            <a:prstDash val="solid"/>
          </a:ln>
          <a:effectLst>
            <a:outerShdw blurRad="508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36592" y="2615184"/>
            <a:ext cx="64008" cy="16642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82896" y="2724912"/>
            <a:ext cx="347472" cy="3474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82896" y="27249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40096" y="2734056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'PerformanceScore' Column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73752" y="3127248"/>
            <a:ext cx="385876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Column → Custom Column → Name: PerformanceScore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([StudentPassRate]*0.4 + [PeerReviewScore]*10*0.3 + [PrincipalRating]*10*0.3)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creates a weighted KPI (Key </a:t>
            </a:r>
            <a:r>
              <a:rPr lang="en-US" sz="100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Indicator) </a:t>
            </a:r>
            <a:r>
              <a:rPr lang="en-US" sz="10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out of 100.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4480560"/>
            <a:ext cx="8412480" cy="640080"/>
          </a:xfrm>
          <a:prstGeom prst="rect">
            <a:avLst/>
          </a:prstGeom>
          <a:solidFill>
            <a:srgbClr val="0F2D45"/>
          </a:solidFill>
          <a:ln w="12700">
            <a:solidFill>
              <a:srgbClr val="E74C3C"/>
            </a:solidFill>
            <a:prstDash val="solid"/>
          </a:ln>
          <a:effectLst>
            <a:outerShdw blurRad="50800" dist="127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65760" y="4480560"/>
            <a:ext cx="64008" cy="6400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12064" y="4553712"/>
            <a:ext cx="310896" cy="310896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2064" y="4553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32688" y="453542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 — Close &amp; Apply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32688" y="479145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tab → Close &amp; Apply. Wait for loading. Go to Data View (table icon, left sidebar) and confirm 200 rows and 15 columns including your new PerformanceScore column.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LAB PRACTICAL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0" y="18288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0:25 – 0:35  |  10 minutes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5603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Create DAX Measures (Data Analysis Expression)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Report View: right-click your table in the Fields pane → New Measure → type each formula below, press Enter after each one.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115568"/>
            <a:ext cx="8412480" cy="841248"/>
          </a:xfrm>
          <a:prstGeom prst="rect">
            <a:avLst/>
          </a:prstGeom>
          <a:solidFill>
            <a:srgbClr val="0F2D45"/>
          </a:solidFill>
          <a:ln w="12700">
            <a:solidFill>
              <a:srgbClr val="00A8E8"/>
            </a:solidFill>
            <a:prstDash val="solid"/>
          </a:ln>
          <a:effectLst>
            <a:outerShdw blurRad="508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115568"/>
            <a:ext cx="64008" cy="841248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16128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10 — Total Teachers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212080" y="1161288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Count of all teacher records — use in KPI card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1426464"/>
            <a:ext cx="8119872" cy="438912"/>
          </a:xfrm>
          <a:prstGeom prst="rect">
            <a:avLst/>
          </a:prstGeom>
          <a:solidFill>
            <a:srgbClr val="1A1A2E"/>
          </a:solidFill>
          <a:ln w="12700">
            <a:solidFill>
              <a:srgbClr val="2A3A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1444752"/>
            <a:ext cx="8001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8E6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Teachers = COUNTROWS(SchoolTeachers_Performance)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048256"/>
            <a:ext cx="8412480" cy="841248"/>
          </a:xfrm>
          <a:prstGeom prst="rect">
            <a:avLst/>
          </a:prstGeom>
          <a:solidFill>
            <a:srgbClr val="0F2D45"/>
          </a:solidFill>
          <a:ln w="12700">
            <a:solidFill>
              <a:srgbClr val="27AE60"/>
            </a:solidFill>
            <a:prstDash val="solid"/>
          </a:ln>
          <a:effectLst>
            <a:outerShdw blurRad="508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048256"/>
            <a:ext cx="64008" cy="8412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0939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11 — Avg Performance Score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212080" y="2093976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School-wide average weighted KPI — headline metric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2920" y="2359152"/>
            <a:ext cx="8119872" cy="438912"/>
          </a:xfrm>
          <a:prstGeom prst="rect">
            <a:avLst/>
          </a:prstGeom>
          <a:solidFill>
            <a:srgbClr val="1A1A2E"/>
          </a:solidFill>
          <a:ln w="12700">
            <a:solidFill>
              <a:srgbClr val="2A3A4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2377440"/>
            <a:ext cx="8001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8E6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 Performance = AVERAGE(SchoolTeachers_Performance[PerformanceScore])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2980944"/>
            <a:ext cx="8412480" cy="841248"/>
          </a:xfrm>
          <a:prstGeom prst="rect">
            <a:avLst/>
          </a:prstGeom>
          <a:solidFill>
            <a:srgbClr val="0F2D45"/>
          </a:solidFill>
          <a:ln w="12700">
            <a:solidFill>
              <a:srgbClr val="F5A623"/>
            </a:solidFill>
            <a:prstDash val="solid"/>
          </a:ln>
          <a:effectLst>
            <a:outerShdw blurRad="508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980944"/>
            <a:ext cx="64008" cy="8412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3026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12 — Avg Student Pass Rate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212080" y="3026664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Key indicator for pay grade eligibility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2920" y="3291840"/>
            <a:ext cx="8119872" cy="438912"/>
          </a:xfrm>
          <a:prstGeom prst="rect">
            <a:avLst/>
          </a:prstGeom>
          <a:solidFill>
            <a:srgbClr val="1A1A2E"/>
          </a:solidFill>
          <a:ln w="12700">
            <a:solidFill>
              <a:srgbClr val="2A3A4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3310128"/>
            <a:ext cx="8001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8E6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 Pass Rate = AVERAGE(SchoolTeachers_Performance[StudentPassRate])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3913632"/>
            <a:ext cx="8412480" cy="841248"/>
          </a:xfrm>
          <a:prstGeom prst="rect">
            <a:avLst/>
          </a:prstGeom>
          <a:solidFill>
            <a:srgbClr val="0F2D45"/>
          </a:solidFill>
          <a:ln w="12700">
            <a:solidFill>
              <a:srgbClr val="E74C3C"/>
            </a:solidFill>
            <a:prstDash val="solid"/>
          </a:ln>
          <a:effectLst>
            <a:outerShdw blurRad="508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913632"/>
            <a:ext cx="64008" cy="84124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" y="395935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13 — Grade Upgrade Count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212080" y="3959352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Teachers who qualify for a pay raise this cycle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02920" y="4224528"/>
            <a:ext cx="8119872" cy="438912"/>
          </a:xfrm>
          <a:prstGeom prst="rect">
            <a:avLst/>
          </a:prstGeom>
          <a:solidFill>
            <a:srgbClr val="1A1A2E"/>
          </a:solidFill>
          <a:ln w="12700">
            <a:solidFill>
              <a:srgbClr val="2A3A4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" y="4242816"/>
            <a:ext cx="8001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8E6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Upgrades = COUNTROWS(FILTER(SchoolTeachers_Performance,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8E6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[RecommendedGrade] &gt; [CurrentGrade]))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65760" y="4846320"/>
            <a:ext cx="8412480" cy="246888"/>
          </a:xfrm>
          <a:prstGeom prst="rect">
            <a:avLst/>
          </a:prstGeom>
          <a:solidFill>
            <a:srgbClr val="0A1E2E"/>
          </a:solidFill>
          <a:ln w="12700">
            <a:solidFill>
              <a:srgbClr val="1A4D7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4864608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Tip: Verify each measure appears in the Fields pane with a ∑ calculator icon before moving on.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LAB PRACTICAL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0" y="18288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0:35 – 0:50  |  15 minutes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5603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Build Your 6 Visuals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2697480" cy="1874520"/>
          </a:xfrm>
          <a:prstGeom prst="rect">
            <a:avLst/>
          </a:prstGeom>
          <a:solidFill>
            <a:srgbClr val="0F2D45"/>
          </a:solidFill>
          <a:ln w="12700">
            <a:solidFill>
              <a:srgbClr val="00A8E8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04672"/>
            <a:ext cx="2697480" cy="329184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8412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🃏  STEP 14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17043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 (×4)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499616"/>
            <a:ext cx="25146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4 Card visuals. Assign: Total Teachers, Avg Performance, Avg Pass Rate, Upgrades. Arrange in a row at the top of the canvas.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172968" y="804672"/>
            <a:ext cx="2697480" cy="1874520"/>
          </a:xfrm>
          <a:prstGeom prst="rect">
            <a:avLst/>
          </a:prstGeom>
          <a:solidFill>
            <a:srgbClr val="0F2D45"/>
          </a:solidFill>
          <a:ln w="12700">
            <a:solidFill>
              <a:srgbClr val="1565C0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72968" y="804672"/>
            <a:ext cx="2697480" cy="32918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64408" y="8412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STEP 15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64408" y="117043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— Avg Performance by Dept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64408" y="1499616"/>
            <a:ext cx="25146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Clustered Bar Chart → Y-axis: Department → X-axis: Avg Performance. Format → turn on Data Labels. This shows which subject departments perform best.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25896" y="804672"/>
            <a:ext cx="2697480" cy="1874520"/>
          </a:xfrm>
          <a:prstGeom prst="rect">
            <a:avLst/>
          </a:prstGeom>
          <a:solidFill>
            <a:srgbClr val="0F2D45"/>
          </a:solidFill>
          <a:ln w="12700">
            <a:solidFill>
              <a:srgbClr val="F5A623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25896" y="804672"/>
            <a:ext cx="2697480" cy="32918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17336" y="8412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STEP 16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17336" y="117043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Bar — Grade Distribution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17336" y="1499616"/>
            <a:ext cx="25146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Bar Chart → Y-axis: Department → X-axis: Total Teachers → Legend: CurrentGrade. Shows grade mix (G1–G5) per department.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2834640"/>
            <a:ext cx="2697480" cy="1874520"/>
          </a:xfrm>
          <a:prstGeom prst="rect">
            <a:avLst/>
          </a:prstGeom>
          <a:solidFill>
            <a:srgbClr val="0F2D45"/>
          </a:solidFill>
          <a:ln w="12700">
            <a:solidFill>
              <a:srgbClr val="27AE60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2834640"/>
            <a:ext cx="2697480" cy="32918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28712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STEP 17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" y="320040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 — Experience vs Pass Rate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11480" y="3529584"/>
            <a:ext cx="25146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Chart → X-axis: YearsExperience → Y-axis: StudentPassRate → Values: TeacherID → Play Axis: leave blank. Reveals whether more experienced teachers get better results.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172968" y="2834640"/>
            <a:ext cx="2697480" cy="1874520"/>
          </a:xfrm>
          <a:prstGeom prst="rect">
            <a:avLst/>
          </a:prstGeom>
          <a:solidFill>
            <a:srgbClr val="0F2D45"/>
          </a:solidFill>
          <a:ln w="12700">
            <a:solidFill>
              <a:srgbClr val="E74C3C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172968" y="2834640"/>
            <a:ext cx="2697480" cy="32918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64408" y="28712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🥧  STEP 18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264408" y="320040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— Teachers by Qualification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264408" y="3529584"/>
            <a:ext cx="25146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Chart → Legend: QualificationLevel → Values: Total Teachers. Format → Detail labels: Percent of total. Shows qualification spread across school.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025896" y="2834640"/>
            <a:ext cx="2697480" cy="1874520"/>
          </a:xfrm>
          <a:prstGeom prst="rect">
            <a:avLst/>
          </a:prstGeom>
          <a:solidFill>
            <a:srgbClr val="0F2D45"/>
          </a:solidFill>
          <a:ln w="12700">
            <a:solidFill>
              <a:srgbClr val="0A3D6B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25896" y="2834640"/>
            <a:ext cx="2697480" cy="329184"/>
          </a:xfrm>
          <a:prstGeom prst="rect">
            <a:avLst/>
          </a:prstGeom>
          <a:solidFill>
            <a:srgbClr val="0A3D6B"/>
          </a:solidFill>
          <a:ln w="12700">
            <a:solidFill>
              <a:srgbClr val="0A3D6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17336" y="28712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STEP 19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17336" y="320040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— Teacher Detail View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17336" y="3529584"/>
            <a:ext cx="25146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visual → Add: Name, Department, CurrentGrade, RecommendedGrade, PerformanceScore, SalaryUSD. Sort by PerformanceScore descending. This is the pay review summary.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LAB PRACTICAL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0" y="18288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0:50 – 1:00  |  10 minutes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5603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— Slicers, Formatting &amp; Save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4114800" cy="1664208"/>
          </a:xfrm>
          <a:prstGeom prst="rect">
            <a:avLst/>
          </a:prstGeom>
          <a:solidFill>
            <a:srgbClr val="0F2D45"/>
          </a:solidFill>
          <a:ln w="12700">
            <a:solidFill>
              <a:srgbClr val="00A8E8"/>
            </a:solidFill>
            <a:prstDash val="solid"/>
          </a:ln>
          <a:effectLst>
            <a:outerShdw blurRad="508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04672"/>
            <a:ext cx="64008" cy="1664208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914400"/>
            <a:ext cx="347472" cy="347472"/>
          </a:xfrm>
          <a:prstGeom prst="ellipse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914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93268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Department Slicer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1335024"/>
            <a:ext cx="385876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 visual → Field: Department → Format → Slicer settings → Style: Tile. Clicking a department tile filters ALL visuals to that department only.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36592" y="804672"/>
            <a:ext cx="4114800" cy="1664208"/>
          </a:xfrm>
          <a:prstGeom prst="rect">
            <a:avLst/>
          </a:prstGeom>
          <a:solidFill>
            <a:srgbClr val="0F2D45"/>
          </a:solidFill>
          <a:ln w="12700">
            <a:solidFill>
              <a:srgbClr val="1565C0"/>
            </a:solidFill>
            <a:prstDash val="solid"/>
          </a:ln>
          <a:effectLst>
            <a:outerShdw blurRad="508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36592" y="804672"/>
            <a:ext cx="64008" cy="16642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73752" y="914400"/>
            <a:ext cx="347472" cy="34747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73752" y="914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30952" y="93268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Qualification Level Slicer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73752" y="1335024"/>
            <a:ext cx="385876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 visual → Field: QualificationLevel → Format → Style: Dropdown. Now managers can filter by teacher qualification level across the whole report.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633472"/>
            <a:ext cx="4114800" cy="1664208"/>
          </a:xfrm>
          <a:prstGeom prst="rect">
            <a:avLst/>
          </a:prstGeom>
          <a:solidFill>
            <a:srgbClr val="0F2D45"/>
          </a:solidFill>
          <a:ln w="12700">
            <a:solidFill>
              <a:srgbClr val="F5A623"/>
            </a:solidFill>
            <a:prstDash val="solid"/>
          </a:ln>
          <a:effectLst>
            <a:outerShdw blurRad="508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633472"/>
            <a:ext cx="64008" cy="16642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2743200"/>
            <a:ext cx="347472" cy="34747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743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276148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Report Title Text Box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02920" y="3163824"/>
            <a:ext cx="385876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→ Text Box → type: 'Teacher Performance &amp; Pay Grade Evaluation'. Set font size 18, bold, white. Drag to top of canvas above the KPI cards.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36592" y="2633472"/>
            <a:ext cx="4114800" cy="1664208"/>
          </a:xfrm>
          <a:prstGeom prst="rect">
            <a:avLst/>
          </a:prstGeom>
          <a:solidFill>
            <a:srgbClr val="0F2D45"/>
          </a:solidFill>
          <a:ln w="12700">
            <a:solidFill>
              <a:srgbClr val="27AE60"/>
            </a:solidFill>
            <a:prstDash val="solid"/>
          </a:ln>
          <a:effectLst>
            <a:outerShdw blurRad="508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36592" y="2633472"/>
            <a:ext cx="64008" cy="16642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73752" y="2743200"/>
            <a:ext cx="347472" cy="3474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73752" y="2743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30952" y="276148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Cross-Filtering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873752" y="3163824"/>
            <a:ext cx="385876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'ICT' tile in Department slicer → confirm all 6 visuals update to ICT only. Click a bar in the dept chart → confirm the table below filters. This is Power BI magic!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4498848"/>
            <a:ext cx="4114800" cy="594360"/>
          </a:xfrm>
          <a:prstGeom prst="rect">
            <a:avLst/>
          </a:prstGeom>
          <a:solidFill>
            <a:srgbClr val="0F2D45"/>
          </a:solidFill>
          <a:ln w="12700">
            <a:solidFill>
              <a:srgbClr val="E74C3C"/>
            </a:solidFill>
            <a:prstDash val="solid"/>
          </a:ln>
          <a:effectLst>
            <a:outerShdw blurRad="38100" dist="127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65760" y="4498848"/>
            <a:ext cx="64008" cy="5943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0352" y="454456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24 — Conditional Formatting on Table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30352" y="4782312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Table visual → Format pane → Cell elements → PerformanceScore → Background color → ON → choose a colour scale (red=low, green=high). Highlights at-risk teachers instantly.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36592" y="4498848"/>
            <a:ext cx="4114800" cy="594360"/>
          </a:xfrm>
          <a:prstGeom prst="rect">
            <a:avLst/>
          </a:prstGeom>
          <a:solidFill>
            <a:srgbClr val="0F2D45"/>
          </a:solidFill>
          <a:ln w="12700">
            <a:solidFill>
              <a:srgbClr val="0A3D6B"/>
            </a:solidFill>
            <a:prstDash val="solid"/>
          </a:ln>
          <a:effectLst>
            <a:outerShdw blurRad="38100" dist="127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36592" y="4498848"/>
            <a:ext cx="64008" cy="594360"/>
          </a:xfrm>
          <a:prstGeom prst="rect">
            <a:avLst/>
          </a:prstGeom>
          <a:solidFill>
            <a:srgbClr val="0A3D6B"/>
          </a:solidFill>
          <a:ln w="12700">
            <a:solidFill>
              <a:srgbClr val="0A3D6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01184" y="454456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25 — Save Your File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901184" y="4782312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→ Save As → Name: TeacherPerformance_Dashboard.pbix → Save to Desktop. This .pbix file is your lab deliverable — submit it to your instructor.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LAB PRACTICAL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18288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LAB COMPLETION CHECKPOINT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5603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Dashboard Output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8412480" cy="3246120"/>
          </a:xfrm>
          <a:prstGeom prst="rect">
            <a:avLst/>
          </a:prstGeom>
          <a:solidFill>
            <a:srgbClr val="0A3D6B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8046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Performance &amp; Pay Grade Evaluation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49440" y="82296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Slicer: Dept  |  Qualification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" y="1207008"/>
            <a:ext cx="1920240" cy="658368"/>
          </a:xfrm>
          <a:prstGeom prst="rect">
            <a:avLst/>
          </a:prstGeom>
          <a:solidFill>
            <a:srgbClr val="0F2D45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23444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02920" y="15727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Teachers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560320" y="1207008"/>
            <a:ext cx="1920240" cy="658368"/>
          </a:xfrm>
          <a:prstGeom prst="rect">
            <a:avLst/>
          </a:prstGeom>
          <a:solidFill>
            <a:srgbClr val="0F2D45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123444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560320" y="15727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Performance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617720" y="1207008"/>
            <a:ext cx="1920240" cy="658368"/>
          </a:xfrm>
          <a:prstGeom prst="rect">
            <a:avLst/>
          </a:prstGeom>
          <a:solidFill>
            <a:srgbClr val="0F2D45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123444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76%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617720" y="15727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Pass Rate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675120" y="1207008"/>
            <a:ext cx="1920240" cy="658368"/>
          </a:xfrm>
          <a:prstGeom prst="rect">
            <a:avLst/>
          </a:prstGeom>
          <a:solidFill>
            <a:srgbClr val="0F2D45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123444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675120" y="15727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Upgrades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02920" y="1965960"/>
            <a:ext cx="2697480" cy="1051560"/>
          </a:xfrm>
          <a:prstGeom prst="rect">
            <a:avLst/>
          </a:prstGeom>
          <a:solidFill>
            <a:srgbClr val="0F2D45"/>
          </a:solidFill>
          <a:ln w="12700">
            <a:solidFill>
              <a:srgbClr val="1A4D7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1965960"/>
            <a:ext cx="2697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Bar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 by Dept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10128" y="1965960"/>
            <a:ext cx="2697480" cy="1051560"/>
          </a:xfrm>
          <a:prstGeom prst="rect">
            <a:avLst/>
          </a:prstGeom>
          <a:solidFill>
            <a:srgbClr val="0F2D45"/>
          </a:solidFill>
          <a:ln w="12700">
            <a:solidFill>
              <a:srgbClr val="1A4D7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10128" y="1965960"/>
            <a:ext cx="2697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Scatter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vs Pass %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17336" y="1965960"/>
            <a:ext cx="1874520" cy="1051560"/>
          </a:xfrm>
          <a:prstGeom prst="rect">
            <a:avLst/>
          </a:prstGeom>
          <a:solidFill>
            <a:srgbClr val="0F2D45"/>
          </a:solidFill>
          <a:ln w="12700">
            <a:solidFill>
              <a:srgbClr val="1A4D7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17336" y="1965960"/>
            <a:ext cx="1874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🥧 Donut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2920" y="3090672"/>
            <a:ext cx="7909560" cy="804672"/>
          </a:xfrm>
          <a:prstGeom prst="rect">
            <a:avLst/>
          </a:prstGeom>
          <a:solidFill>
            <a:srgbClr val="0F2D45"/>
          </a:solidFill>
          <a:ln w="12700">
            <a:solidFill>
              <a:srgbClr val="1A4D7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3090672"/>
            <a:ext cx="77541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Teacher Detail Table  —  Name | Dept | CurrentGrade | RecommendedGrade | PerformanceScore (colour-coded) | SalaryUSD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41148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Lab Completion Checklist: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65760" y="4407408"/>
            <a:ext cx="4114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4 KPI cards at the top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65760" y="4590288"/>
            <a:ext cx="4114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Bar chart: Performance by Department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65760" y="4773168"/>
            <a:ext cx="4114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Scatter: Experience vs Pass Rate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65760" y="4956048"/>
            <a:ext cx="4114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Donut: Teachers by Qualification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663440" y="4407408"/>
            <a:ext cx="42976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Table: All 14+ columns, sorted by score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663440" y="4590288"/>
            <a:ext cx="42976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Conditional colour scale on PerformanceScore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663440" y="4773168"/>
            <a:ext cx="42976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Department &amp; Qualification slicers working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663440" y="4956048"/>
            <a:ext cx="42976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File saved as TeacherPerformance_Dashboard.pbix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3D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3474720"/>
            <a:ext cx="4114800" cy="4114800"/>
          </a:xfrm>
          <a:prstGeom prst="ellipse">
            <a:avLst/>
          </a:prstGeom>
          <a:solidFill>
            <a:srgbClr val="0D5299">
              <a:alpha val="70000"/>
            </a:srgbClr>
          </a:solidFill>
          <a:ln w="12700">
            <a:solidFill>
              <a:srgbClr val="0D52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🎉  Congratulations!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completed the Power BI Lecture &amp; Lab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566928"/>
          </a:xfrm>
          <a:prstGeom prst="rect">
            <a:avLst/>
          </a:prstGeom>
          <a:solidFill>
            <a:srgbClr val="0D2D4A"/>
          </a:solidFill>
          <a:ln w="12700">
            <a:solidFill>
              <a:srgbClr val="1A4D70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417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Microsoft Learn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6733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official tutorials and certifications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0" y="15270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learn.microsoft.com/power-bi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8229600" cy="566928"/>
          </a:xfrm>
          <a:prstGeom prst="rect">
            <a:avLst/>
          </a:prstGeom>
          <a:solidFill>
            <a:srgbClr val="0D2D4A"/>
          </a:solidFill>
          <a:ln w="12700">
            <a:solidFill>
              <a:srgbClr val="1A4D70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20574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📺  Guy in a Cube (YouTube)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3134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free Power BI video tutorials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0" y="21671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youtube.com/c/GuyinaC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8229600" cy="566928"/>
          </a:xfrm>
          <a:prstGeom prst="rect">
            <a:avLst/>
          </a:prstGeom>
          <a:solidFill>
            <a:srgbClr val="0D2D4A"/>
          </a:solidFill>
          <a:ln w="12700">
            <a:solidFill>
              <a:srgbClr val="1A4D70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" y="26974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Power BI Community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295351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Forums, Q&amp;A and sample reports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28072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community.powerbi.com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291840"/>
            <a:ext cx="8229600" cy="566928"/>
          </a:xfrm>
          <a:prstGeom prst="rect">
            <a:avLst/>
          </a:prstGeom>
          <a:solidFill>
            <a:srgbClr val="0D2D4A"/>
          </a:solidFill>
          <a:ln w="12700">
            <a:solidFill>
              <a:srgbClr val="1A4D70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" y="33375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SQLBI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35935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DAX and data modeling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34472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sqlbi.com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931920"/>
            <a:ext cx="8229600" cy="566928"/>
          </a:xfrm>
          <a:prstGeom prst="rect">
            <a:avLst/>
          </a:prstGeom>
          <a:solidFill>
            <a:srgbClr val="0D2D4A"/>
          </a:solidFill>
          <a:ln w="12700">
            <a:solidFill>
              <a:srgbClr val="1A4D70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0080" y="39776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PL-300 Certification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42336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certified Power BI Analyst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54880" y="40873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learn.microsoft.com/certifications/pl-300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791456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Attempt the Microsoft PL-300 Power BI Analyst Certification  •  practice.powerbi.com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3590</Words>
  <Application>Microsoft Macintosh PowerPoint</Application>
  <PresentationFormat>On-screen Show (16:9)</PresentationFormat>
  <Paragraphs>562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Consolas</vt:lpstr>
      <vt:lpstr>Segoe UI Symbol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Intelligence with Microsoft Power BI</dc:title>
  <dc:subject>PptxGenJS Presentation</dc:subject>
  <dc:creator>ICT Department</dc:creator>
  <cp:lastModifiedBy>Mustafa Bamboat</cp:lastModifiedBy>
  <cp:revision>5</cp:revision>
  <dcterms:created xsi:type="dcterms:W3CDTF">2026-05-22T07:44:00Z</dcterms:created>
  <dcterms:modified xsi:type="dcterms:W3CDTF">2026-05-24T02:59:39Z</dcterms:modified>
</cp:coreProperties>
</file>