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75" r:id="rId2"/>
    <p:sldId id="377" r:id="rId3"/>
    <p:sldId id="378" r:id="rId4"/>
    <p:sldId id="379" r:id="rId5"/>
    <p:sldId id="380" r:id="rId6"/>
    <p:sldId id="381" r:id="rId7"/>
    <p:sldId id="426" r:id="rId8"/>
    <p:sldId id="383" r:id="rId9"/>
    <p:sldId id="384" r:id="rId10"/>
    <p:sldId id="395" r:id="rId11"/>
    <p:sldId id="397" r:id="rId12"/>
    <p:sldId id="399" r:id="rId13"/>
    <p:sldId id="400" r:id="rId14"/>
    <p:sldId id="401" r:id="rId15"/>
    <p:sldId id="427" r:id="rId16"/>
    <p:sldId id="403" r:id="rId17"/>
    <p:sldId id="404" r:id="rId18"/>
    <p:sldId id="406" r:id="rId19"/>
    <p:sldId id="407" r:id="rId20"/>
    <p:sldId id="408" r:id="rId21"/>
    <p:sldId id="409" r:id="rId22"/>
    <p:sldId id="428" r:id="rId23"/>
    <p:sldId id="429" r:id="rId2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110" autoAdjust="0"/>
  </p:normalViewPr>
  <p:slideViewPr>
    <p:cSldViewPr>
      <p:cViewPr varScale="1">
        <p:scale>
          <a:sx n="119" d="100"/>
          <a:sy n="119" d="100"/>
        </p:scale>
        <p:origin x="704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3F0F89D-B2D3-4117-94CA-910EDCE5C7C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6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431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344" y="8829431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40E9D4B-CCB2-4F1B-9BAF-A35722314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76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52F2DA82-0D4E-AAFA-261C-356C332D1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57C06031-66CB-4A76-9CCA-8E0D05B3227B}" type="slidenum">
              <a:rPr lang="en-US" altLang="en-US" sz="1200">
                <a:ea typeface="MS PGothic" panose="020B0600070205080204" pitchFamily="34" charset="-128"/>
              </a:rPr>
              <a:pPr/>
              <a:t>1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AD3449EC-711E-7450-FDD7-F366D61196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47F1065-F163-375E-E966-7564C4C4CA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2977F2E7-FC6A-5EAA-03AD-F1FEB18F63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D5C96A4C-43FE-4F88-9E98-27A708787794}" type="slidenum">
              <a:rPr lang="en-US" altLang="en-US" sz="1200">
                <a:ea typeface="MS PGothic" panose="020B0600070205080204" pitchFamily="34" charset="-128"/>
              </a:rPr>
              <a:pPr/>
              <a:t>2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04448F0-DD12-891B-3C3A-6DA6BD6D21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2ABCC9D2-E43F-A206-C63F-0F3E93FA3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85D17636-3250-D091-95D5-5961F8F988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2D2B91EE-2B23-4C92-B8EC-659E61708324}" type="slidenum">
              <a:rPr lang="en-US" altLang="en-US" sz="1200">
                <a:ea typeface="MS PGothic" panose="020B0600070205080204" pitchFamily="34" charset="-128"/>
              </a:rPr>
              <a:pPr/>
              <a:t>3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B9EFCC7A-96FE-80FD-3F7B-4469FE3BAE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F539D667-30AE-0043-52F2-7291E5DDBB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3A211FC8-1B06-3331-C4E6-3C39322FB9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B0AC0E3-75A2-47C9-94E5-F0439FE7014D}" type="slidenum">
              <a:rPr lang="en-US" altLang="en-US" sz="1200">
                <a:ea typeface="MS PGothic" panose="020B0600070205080204" pitchFamily="34" charset="-128"/>
              </a:rPr>
              <a:pPr/>
              <a:t>4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D96D9D7-15D4-746F-F2A5-1B7255E024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FF4208A-CF88-2D78-ACA1-83561CD57E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5E919953-8B69-2A44-05EE-C183C4D757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C7A49F8D-E457-4FC5-A908-122626895491}" type="slidenum">
              <a:rPr lang="en-US" altLang="en-US" sz="1200">
                <a:ea typeface="MS PGothic" panose="020B0600070205080204" pitchFamily="34" charset="-128"/>
              </a:rPr>
              <a:pPr/>
              <a:t>5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B2CA8649-1B56-5B16-1125-7D0F360D9F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05F8600A-3C69-979E-7911-7C5F71AD8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117E5AB5-8CD8-D916-34BD-8CB2A8EBCA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08871842-CBBF-4C72-B474-EB3A7FDA3031}" type="slidenum">
              <a:rPr lang="en-US" altLang="en-US" sz="1200">
                <a:ea typeface="MS PGothic" panose="020B0600070205080204" pitchFamily="34" charset="-128"/>
              </a:rPr>
              <a:pPr/>
              <a:t>6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450BBF37-DEF5-B502-7DAC-86EE51F656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853A89D-01FF-0F2D-7C55-0C1929022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117E5AB5-8CD8-D916-34BD-8CB2A8EBCA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08871842-CBBF-4C72-B474-EB3A7FDA3031}" type="slidenum">
              <a:rPr lang="en-US" altLang="en-US" sz="1200">
                <a:ea typeface="MS PGothic" panose="020B0600070205080204" pitchFamily="34" charset="-128"/>
              </a:rPr>
              <a:pPr/>
              <a:t>7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450BBF37-DEF5-B502-7DAC-86EE51F656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853A89D-01FF-0F2D-7C55-0C1929022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2624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EB776891-151E-82EA-E067-17BD903D1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73940A92-7407-494A-928B-15A40C1E58F2}" type="slidenum">
              <a:rPr lang="en-US" altLang="en-US" sz="1200">
                <a:ea typeface="MS PGothic" panose="020B0600070205080204" pitchFamily="34" charset="-128"/>
              </a:rPr>
              <a:pPr/>
              <a:t>8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463C5BF4-8D5C-D220-728D-BB04C65F81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D7380E2-61AC-B13C-AEF1-F88D3FDA03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D2995796-7A6E-9DF5-6F07-317032A413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A55FA2F5-991F-4226-9B37-E6501785BFB7}" type="slidenum">
              <a:rPr lang="en-US" altLang="en-US" sz="1200">
                <a:ea typeface="MS PGothic" panose="020B0600070205080204" pitchFamily="34" charset="-128"/>
              </a:rPr>
              <a:pPr/>
              <a:t>9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4900366-10D9-9090-8D14-1D3F25BE31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00057086-B87F-AC37-9319-344E3D9890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F40A7759-0EC2-C163-4A4F-ADE9FDEB3B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2AE87602-0A44-4D3F-9246-71B9DFDF62BC}" type="slidenum">
              <a:rPr lang="en-US" altLang="en-US" sz="1200">
                <a:ea typeface="MS PGothic" panose="020B0600070205080204" pitchFamily="34" charset="-128"/>
              </a:rPr>
              <a:pPr/>
              <a:t>10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23D54232-7537-BFEC-5B0A-D129F52CD0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3105A213-34B2-3D42-7DCA-FEED3ED705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5A0B8C1E-A2AB-8704-2286-4EE52F7474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C1AA36BD-CD72-4412-9846-CF76E1C00EE8}" type="slidenum">
              <a:rPr lang="en-US" altLang="en-US" sz="1200">
                <a:ea typeface="MS PGothic" panose="020B0600070205080204" pitchFamily="34" charset="-128"/>
              </a:rPr>
              <a:pPr/>
              <a:t>11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7D407A6-66E9-7030-7532-283CFBD9F2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A33704E7-79FA-D9A0-DDF2-FB194FD7AF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17C9711E-3D86-179D-8884-2F2235D190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E830D49-BDF8-44CB-94CC-C4AE9149610D}" type="slidenum">
              <a:rPr lang="en-US" altLang="en-US" sz="1200">
                <a:ea typeface="MS PGothic" panose="020B0600070205080204" pitchFamily="34" charset="-128"/>
              </a:rPr>
              <a:pPr/>
              <a:t>12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2DCD278-DA55-56EC-8EAB-8D7A324296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D0FEE84-591F-29FD-0F1B-B6F2C74209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95FB95B-6878-E0CE-B4CA-38B8BC0202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03F80A06-38FD-4C35-A21B-9201545E657F}" type="slidenum">
              <a:rPr lang="en-US" altLang="en-US" sz="1200">
                <a:ea typeface="MS PGothic" panose="020B0600070205080204" pitchFamily="34" charset="-128"/>
              </a:rPr>
              <a:pPr/>
              <a:t>13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634DC75F-F497-1878-699D-8736180F77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FA5530B-2EB3-034B-FCB7-27E8DAB3E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85BF5E1E-1A56-EAD1-7151-4D38F91C85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7F82E83B-D2C7-4444-9383-88F83C55F475}" type="slidenum">
              <a:rPr lang="en-US" altLang="en-US" sz="1200">
                <a:ea typeface="MS PGothic" panose="020B0600070205080204" pitchFamily="34" charset="-128"/>
              </a:rPr>
              <a:pPr/>
              <a:t>14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5FD7EB7F-F97A-E26B-463E-E0575744E4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9B72E9A3-FF5F-C7F0-CABE-C6F09C8F7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85BF5E1E-1A56-EAD1-7151-4D38F91C85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7F82E83B-D2C7-4444-9383-88F83C55F475}" type="slidenum">
              <a:rPr lang="en-US" altLang="en-US" sz="1200">
                <a:ea typeface="MS PGothic" panose="020B0600070205080204" pitchFamily="34" charset="-128"/>
              </a:rPr>
              <a:pPr/>
              <a:t>15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5FD7EB7F-F97A-E26B-463E-E0575744E4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9B72E9A3-FF5F-C7F0-CABE-C6F09C8F7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9164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C8361D82-A2CE-F300-43AB-F63D15DC3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2FB9AEE3-F4A3-441D-9AFB-1EBC491D1D21}" type="slidenum">
              <a:rPr lang="en-US" altLang="en-US" sz="1200">
                <a:ea typeface="MS PGothic" panose="020B0600070205080204" pitchFamily="34" charset="-128"/>
              </a:rPr>
              <a:pPr/>
              <a:t>16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51B5921-A334-DDC6-8646-16D7DE0A54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7BB3CEEB-87D3-DCE9-7E5F-D5A68E4E8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B338162D-82DE-7C9C-6FFF-92C30C161D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BA56B6B0-B31D-4242-AFBA-D4568C4C97AE}" type="slidenum">
              <a:rPr lang="en-US" altLang="en-US" sz="1200">
                <a:ea typeface="MS PGothic" panose="020B0600070205080204" pitchFamily="34" charset="-128"/>
              </a:rPr>
              <a:pPr/>
              <a:t>17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20E821D8-FE29-1287-C8F9-91B41BB4B3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0F08CDF-851B-EEBA-CE18-E66A7AAA7D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451B81A2-1907-EAB0-F2CB-3933D7E7ED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918A6C28-0D0F-AB50-0D42-5B458994DD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A977D79A-0400-DDBA-FE49-8857F17E6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752AF17E-32C2-457C-84C8-8AF3FF8CBB01}" type="slidenum">
              <a:rPr lang="en-US" altLang="en-US" sz="1200">
                <a:ea typeface="MS PGothic" panose="020B0600070205080204" pitchFamily="34" charset="-128"/>
              </a:rPr>
              <a:pPr/>
              <a:t>18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AB151C01-F56F-32A4-4D9D-4179176F54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8019243C-8933-41E9-82C5-6E2B9F24445E}" type="slidenum">
              <a:rPr lang="en-US" altLang="en-US" sz="1200">
                <a:ea typeface="MS PGothic" panose="020B0600070205080204" pitchFamily="34" charset="-128"/>
              </a:rPr>
              <a:pPr/>
              <a:t>19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C451DBA-DA15-FF77-8931-CEF9C353BA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A984C795-22FE-EE2E-C19D-0F64487CF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AF07B9A0-953A-5A15-9EFD-0854176F7E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D0248441-B7FE-4F87-BAA5-75E8580B361C}" type="slidenum">
              <a:rPr lang="en-US" altLang="en-US" sz="1200">
                <a:ea typeface="MS PGothic" panose="020B0600070205080204" pitchFamily="34" charset="-128"/>
              </a:rPr>
              <a:pPr/>
              <a:t>20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B8FC72D5-E040-7A4E-3E42-54D46D9ED7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5456BDB3-73A6-8C23-57AD-29B1AE25F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7C4E7C5D-46F0-34A5-EB0B-B6D85536A6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DD2BE721-6C8A-4342-ACAA-BDEC24B13737}" type="slidenum">
              <a:rPr lang="en-US" altLang="en-US" sz="1200">
                <a:ea typeface="MS PGothic" panose="020B0600070205080204" pitchFamily="34" charset="-128"/>
              </a:rPr>
              <a:pPr/>
              <a:t>21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6A0899AB-BA1C-D3FE-F672-41E3B102D0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889703EC-85C9-1F6F-FC93-190AD3722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7C4E7C5D-46F0-34A5-EB0B-B6D85536A6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DD2BE721-6C8A-4342-ACAA-BDEC24B13737}" type="slidenum">
              <a:rPr lang="en-US" altLang="en-US" sz="1200">
                <a:ea typeface="MS PGothic" panose="020B0600070205080204" pitchFamily="34" charset="-128"/>
              </a:rPr>
              <a:pPr/>
              <a:t>22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6A0899AB-BA1C-D3FE-F672-41E3B102D0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889703EC-85C9-1F6F-FC93-190AD3722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0830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7C4E7C5D-46F0-34A5-EB0B-B6D85536A6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DD2BE721-6C8A-4342-ACAA-BDEC24B13737}" type="slidenum">
              <a:rPr lang="en-US" altLang="en-US" sz="1200">
                <a:ea typeface="MS PGothic" panose="020B0600070205080204" pitchFamily="34" charset="-128"/>
              </a:rPr>
              <a:pPr/>
              <a:t>23</a:t>
            </a:fld>
            <a:endParaRPr lang="en-US" altLang="en-US" sz="1200">
              <a:ea typeface="MS PGothic" panose="020B0600070205080204" pitchFamily="34" charset="-128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6A0899AB-BA1C-D3FE-F672-41E3B102D0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889703EC-85C9-1F6F-FC93-190AD3722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7020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23391" y="2067306"/>
            <a:ext cx="7697216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254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254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254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2400" y="152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52400" y="990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254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254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9969" y="1150746"/>
            <a:ext cx="3713479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47570" y="1671559"/>
            <a:ext cx="6493509" cy="4184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74633" y="6509932"/>
            <a:ext cx="246379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254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92007839-5A9C-B231-B05C-DB43572F7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36675"/>
            <a:ext cx="7848600" cy="3145476"/>
          </a:xfrm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Distinguish between the types of </a:t>
            </a:r>
            <a:r>
              <a:rPr lang="en-US" altLang="en-US" b="0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problems </a:t>
            </a: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that </a:t>
            </a:r>
            <a:r>
              <a:rPr lang="en-US" altLang="en-US" b="0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humans </a:t>
            </a: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do best and those that </a:t>
            </a:r>
            <a:r>
              <a:rPr lang="en-US" altLang="en-US" b="0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computers </a:t>
            </a: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do best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Explain the </a:t>
            </a:r>
            <a:r>
              <a:rPr lang="en-US" altLang="en-US" b="0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Turing </a:t>
            </a: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test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Explain the processing of an </a:t>
            </a:r>
            <a:r>
              <a:rPr lang="en-US" altLang="en-US" b="0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expert system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Explain the processing of biological and artificial </a:t>
            </a:r>
            <a:r>
              <a:rPr lang="en-US" altLang="en-US" b="0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neural networks</a:t>
            </a:r>
          </a:p>
          <a:p>
            <a:pPr eaLnBrk="1" hangingPunct="1"/>
            <a:endParaRPr lang="en-US" altLang="en-US" b="0" dirty="0">
              <a:latin typeface="Times" panose="02020603050405020304" pitchFamily="18" charset="0"/>
              <a:ea typeface="MS PGothic" panose="020B0600070205080204" pitchFamily="34" charset="-128"/>
              <a:cs typeface="Times" panose="02020603050405020304" pitchFamily="18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5E24CFC-75DE-12F2-9DE7-05764759279F}"/>
              </a:ext>
            </a:extLst>
          </p:cNvPr>
          <p:cNvSpPr txBox="1">
            <a:spLocks/>
          </p:cNvSpPr>
          <p:nvPr/>
        </p:nvSpPr>
        <p:spPr>
          <a:xfrm>
            <a:off x="457200" y="424367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Lecture-11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5">
            <a:extLst>
              <a:ext uri="{FF2B5EF4-FFF2-40B4-BE49-F238E27FC236}">
                <a16:creationId xmlns:a16="http://schemas.microsoft.com/office/drawing/2014/main" id="{0CB757DF-C8A5-F3BC-3E8E-B7CF0E4AD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048000"/>
            <a:ext cx="1905000" cy="2667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Can you</a:t>
            </a:r>
          </a:p>
          <a:p>
            <a:pPr algn="ctr"/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list the items</a:t>
            </a:r>
          </a:p>
          <a:p>
            <a:pPr algn="ctr"/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in this</a:t>
            </a:r>
          </a:p>
          <a:p>
            <a:pPr algn="ctr"/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picture?</a:t>
            </a:r>
          </a:p>
        </p:txBody>
      </p:sp>
      <p:pic>
        <p:nvPicPr>
          <p:cNvPr id="8196" name="Picture 1">
            <a:extLst>
              <a:ext uri="{FF2B5EF4-FFF2-40B4-BE49-F238E27FC236}">
                <a16:creationId xmlns:a16="http://schemas.microsoft.com/office/drawing/2014/main" id="{E37F2162-79C2-555E-403F-64F5E104E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1447800"/>
            <a:ext cx="4933950" cy="453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37BD320-EFF5-E3B9-5BF5-457F9D7C138C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Thinking Machines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5">
            <a:extLst>
              <a:ext uri="{FF2B5EF4-FFF2-40B4-BE49-F238E27FC236}">
                <a16:creationId xmlns:a16="http://schemas.microsoft.com/office/drawing/2014/main" id="{E435156C-9199-2B4A-9011-892F81EE1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295400"/>
            <a:ext cx="2438400" cy="426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Can you count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the distribution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of letters in a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book?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Add a thousand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4-digit numbers?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Match finger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prints?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Search a list of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 million values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for duplicates?</a:t>
            </a:r>
          </a:p>
        </p:txBody>
      </p:sp>
      <p:pic>
        <p:nvPicPr>
          <p:cNvPr id="10244" name="Picture 1">
            <a:extLst>
              <a:ext uri="{FF2B5EF4-FFF2-40B4-BE49-F238E27FC236}">
                <a16:creationId xmlns:a16="http://schemas.microsoft.com/office/drawing/2014/main" id="{778AF062-19D4-11C5-747E-993E2D275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95400"/>
            <a:ext cx="3632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6B062FCE-4DC2-ADB5-1A52-8BB300E48AD0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Thinking Machines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5">
            <a:extLst>
              <a:ext uri="{FF2B5EF4-FFF2-40B4-BE49-F238E27FC236}">
                <a16:creationId xmlns:a16="http://schemas.microsoft.com/office/drawing/2014/main" id="{55969BDA-4017-322F-BA82-A95CE2BCC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514600"/>
            <a:ext cx="1905000" cy="2667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Can you</a:t>
            </a:r>
          </a:p>
          <a:p>
            <a:pPr algn="ctr"/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list the items</a:t>
            </a:r>
          </a:p>
          <a:p>
            <a:pPr algn="ctr"/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in this</a:t>
            </a:r>
          </a:p>
          <a:p>
            <a:pPr algn="ctr"/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picture?</a:t>
            </a:r>
          </a:p>
        </p:txBody>
      </p:sp>
      <p:sp>
        <p:nvSpPr>
          <p:cNvPr id="12292" name="Rectangle 6">
            <a:extLst>
              <a:ext uri="{FF2B5EF4-FFF2-40B4-BE49-F238E27FC236}">
                <a16:creationId xmlns:a16="http://schemas.microsoft.com/office/drawing/2014/main" id="{7689F19B-BA55-1C12-577D-54F04584F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209800"/>
            <a:ext cx="3429000" cy="3581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Can you count the 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distribution of letters in 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 book?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Add a thousand4-digit 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numbers?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Match finger prints?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Search a list of a 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million values</a:t>
            </a:r>
          </a:p>
          <a:p>
            <a:r>
              <a:rPr lang="en-US" altLang="en-US" i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for duplicates?</a:t>
            </a:r>
          </a:p>
        </p:txBody>
      </p:sp>
      <p:sp>
        <p:nvSpPr>
          <p:cNvPr id="12293" name="Text Box 7">
            <a:extLst>
              <a:ext uri="{FF2B5EF4-FFF2-40B4-BE49-F238E27FC236}">
                <a16:creationId xmlns:a16="http://schemas.microsoft.com/office/drawing/2014/main" id="{0640F21B-F232-A445-8468-A2FC84714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764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>
                <a:latin typeface="Arial" panose="020B0604020202020204" pitchFamily="34" charset="0"/>
                <a:ea typeface="MS PGothic" panose="020B0600070205080204" pitchFamily="34" charset="-128"/>
              </a:rPr>
              <a:t>Humans do best</a:t>
            </a:r>
          </a:p>
        </p:txBody>
      </p:sp>
      <p:sp>
        <p:nvSpPr>
          <p:cNvPr id="12294" name="Text Box 8">
            <a:extLst>
              <a:ext uri="{FF2B5EF4-FFF2-40B4-BE49-F238E27FC236}">
                <a16:creationId xmlns:a16="http://schemas.microsoft.com/office/drawing/2014/main" id="{E59A6877-B80C-76F9-814A-0AB02C0EF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44780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Arial" panose="020B0604020202020204" pitchFamily="34" charset="0"/>
                <a:ea typeface="MS PGothic" panose="020B0600070205080204" pitchFamily="34" charset="-128"/>
              </a:rPr>
              <a:t>Computers do best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9EC44B3-3990-6554-C1BF-267506BF1320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Thinking Machines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/>
      <p:bldP spid="122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>
            <a:extLst>
              <a:ext uri="{FF2B5EF4-FFF2-40B4-BE49-F238E27FC236}">
                <a16:creationId xmlns:a16="http://schemas.microsoft.com/office/drawing/2014/main" id="{F37F84C1-2195-C59D-BCBE-3041DD005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95400"/>
            <a:ext cx="7848600" cy="258532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Artificial intelligence (AI) </a:t>
            </a:r>
          </a:p>
          <a:p>
            <a:pPr marL="0" indent="0" eaLnBrk="1" hangingPunct="1">
              <a:buFontTx/>
              <a:buNone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The study of computer systems that attempt to model and apply the intelligence of the human mind</a:t>
            </a:r>
          </a:p>
          <a:p>
            <a:pPr marL="0" indent="0" eaLnBrk="1" hangingPunct="1">
              <a:buFontTx/>
              <a:buNone/>
            </a:pPr>
            <a:endParaRPr lang="en-US" altLang="en-US" b="0" dirty="0">
              <a:latin typeface="Times" panose="02020603050405020304" pitchFamily="18" charset="0"/>
              <a:ea typeface="MS PGothic" panose="020B0600070205080204" pitchFamily="34" charset="-128"/>
              <a:cs typeface="Times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For example, writing a program to pick out objects in a picture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5C35479-C1B8-FE05-CF14-0E33FC09D515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Thinking Machines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A0E9EAAE-D3CD-0A7F-8FDD-C829D96318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077200" cy="310238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Turing test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 test to empirically determine whether a computer has achieved intelligence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Alan Turing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An English mathematician who wrote a landmark paper in 1950 that asked the question: </a:t>
            </a:r>
            <a:r>
              <a:rPr lang="en-US" altLang="en-US" b="0" i="1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Can machines think?</a:t>
            </a:r>
            <a:r>
              <a:rPr lang="en-US" altLang="en-US" i="1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 </a:t>
            </a: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He proposed a test to answer the question "How will we know when we</a:t>
            </a:r>
            <a:r>
              <a:rPr lang="ja-JP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’</a:t>
            </a:r>
            <a:r>
              <a:rPr lang="en-US" altLang="ja-JP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ve succeeded?"</a:t>
            </a:r>
            <a:endParaRPr lang="en-US" altLang="en-US" b="0" dirty="0">
              <a:latin typeface="Times" panose="02020603050405020304" pitchFamily="18" charset="0"/>
              <a:ea typeface="MS PGothic" panose="020B0600070205080204" pitchFamily="34" charset="-128"/>
              <a:cs typeface="Times" panose="02020603050405020304" pitchFamily="18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F661ACBD-5340-A84F-DF84-43FF578CCAF9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Turing Test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661ACBD-5340-A84F-DF84-43FF578CCAF9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Turing Test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BDD3937A-D691-0257-828E-219A54F25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1203325"/>
            <a:ext cx="4410075" cy="495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229969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89A0E7CC-E90F-AFAB-5770-20997FD072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153400" cy="301621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Weak equivalence  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Two systems (human and computer) are equivalent in results (output), but they do not arrive at those results in the same way</a:t>
            </a:r>
          </a:p>
          <a:p>
            <a:pPr marL="0" indent="0" eaLnBrk="1" hangingPunct="1">
              <a:buFontTx/>
              <a:buNone/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Strong equivalence   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Two systems (human and computer) use the same internal processes to produce results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736013A-F059-F090-8CF8-4192DB890BEB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Turing Test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>
            <a:extLst>
              <a:ext uri="{FF2B5EF4-FFF2-40B4-BE49-F238E27FC236}">
                <a16:creationId xmlns:a16="http://schemas.microsoft.com/office/drawing/2014/main" id="{AFF3C8D6-1B0B-D643-27CF-1FD095463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36675"/>
            <a:ext cx="7086600" cy="116339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dirty="0" err="1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Loebner</a:t>
            </a: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 prize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The first formal instantiation of the Turing test, held annually</a:t>
            </a:r>
          </a:p>
        </p:txBody>
      </p:sp>
      <p:sp>
        <p:nvSpPr>
          <p:cNvPr id="22532" name="Rectangle 5">
            <a:extLst>
              <a:ext uri="{FF2B5EF4-FFF2-40B4-BE49-F238E27FC236}">
                <a16:creationId xmlns:a16="http://schemas.microsoft.com/office/drawing/2014/main" id="{80DBC869-9B71-4C00-A5E7-EAB1068B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438400"/>
            <a:ext cx="19812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i="1" dirty="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Has it been</a:t>
            </a:r>
          </a:p>
          <a:p>
            <a:pPr algn="ctr"/>
            <a:r>
              <a:rPr lang="en-US" altLang="en-US" i="1" dirty="0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won yet?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DDC05FB-5118-564F-138C-0931F2D52E91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Turing Test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4B8B9CCD-7AA5-A3F9-F35C-FCC374AEE1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19200"/>
            <a:ext cx="7696200" cy="3139321"/>
          </a:xfrm>
        </p:spPr>
        <p:txBody>
          <a:bodyPr/>
          <a:lstStyle/>
          <a:p>
            <a:pPr marL="63500" indent="0" eaLnBrk="1" hangingPunct="1">
              <a:buFontTx/>
              <a:buNone/>
            </a:pPr>
            <a:r>
              <a:rPr lang="en-US" altLang="en-US" sz="2400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Knowledge-based system  </a:t>
            </a:r>
          </a:p>
          <a:p>
            <a:pPr marL="63500" indent="0" eaLnBrk="1" hangingPunct="1">
              <a:buFontTx/>
              <a:buNone/>
            </a:pPr>
            <a:r>
              <a:rPr lang="en-US" altLang="en-US" sz="2400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Software that uses a specific set of information, from which it extracts and processes particular pieces</a:t>
            </a:r>
          </a:p>
          <a:p>
            <a:pPr marL="63500" indent="0" eaLnBrk="1" hangingPunct="1">
              <a:buFontTx/>
              <a:buNone/>
            </a:pPr>
            <a:r>
              <a:rPr lang="en-US" altLang="en-US" sz="2400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Expert system  </a:t>
            </a:r>
          </a:p>
          <a:p>
            <a:pPr marL="63500" indent="0" eaLnBrk="1" hangingPunct="1">
              <a:buFontTx/>
              <a:buNone/>
            </a:pPr>
            <a:r>
              <a:rPr lang="en-US" altLang="en-US" sz="2400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 software system based on the knowledge of human experts; it is a</a:t>
            </a:r>
          </a:p>
          <a:p>
            <a:pPr lvl="1" eaLnBrk="1" hangingPunct="1"/>
            <a:r>
              <a:rPr lang="en-US" altLang="en-US" sz="2000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Rule-based system  </a:t>
            </a:r>
            <a:r>
              <a:rPr lang="en-US" altLang="en-US" sz="20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 software system based on a set of </a:t>
            </a:r>
            <a:r>
              <a:rPr lang="en-US" altLang="en-US" sz="2000" i="1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if-then</a:t>
            </a:r>
            <a:r>
              <a:rPr lang="en-US" altLang="en-US" sz="20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 rules</a:t>
            </a:r>
          </a:p>
          <a:p>
            <a:pPr lvl="1" eaLnBrk="1" hangingPunct="1"/>
            <a:r>
              <a:rPr lang="en-US" altLang="en-US" sz="2000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Inference engine  </a:t>
            </a:r>
            <a:r>
              <a:rPr lang="en-US" altLang="en-US" sz="20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The software that processes rules to draw conclusions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7723A1DC-D5CA-A808-2F7D-CA0B56B06B33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Expert Systems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>
            <a:extLst>
              <a:ext uri="{FF2B5EF4-FFF2-40B4-BE49-F238E27FC236}">
                <a16:creationId xmlns:a16="http://schemas.microsoft.com/office/drawing/2014/main" id="{0BF1B11B-A1E3-7E8F-B0D5-1FA4DB880E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95400"/>
            <a:ext cx="7912100" cy="2523768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Boolean variables needed to represent state of the lawn</a:t>
            </a:r>
          </a:p>
          <a:p>
            <a:pPr marL="806450" lvl="1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BARE</a:t>
            </a:r>
            <a:r>
              <a:rPr lang="en-US" altLang="en-US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—the lawn has large, bare areas</a:t>
            </a:r>
          </a:p>
          <a:p>
            <a:pPr marL="806450" lvl="1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SPARSE</a:t>
            </a:r>
            <a:r>
              <a:rPr lang="en-US" altLang="en-US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—the lawn is generally thin</a:t>
            </a:r>
          </a:p>
          <a:p>
            <a:pPr marL="806450" lvl="1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WEEDS</a:t>
            </a:r>
            <a:r>
              <a:rPr lang="en-US" altLang="en-US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—the lawn contains many weeds</a:t>
            </a:r>
          </a:p>
          <a:p>
            <a:pPr marL="806450" lvl="1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BUGS</a:t>
            </a:r>
            <a:r>
              <a:rPr lang="en-US" altLang="en-US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—the lawn shows evidence of bugs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E1F5D68-1571-DBC9-3FC2-9AC805F8EB54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Expert Systems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>
            <a:extLst>
              <a:ext uri="{FF2B5EF4-FFF2-40B4-BE49-F238E27FC236}">
                <a16:creationId xmlns:a16="http://schemas.microsoft.com/office/drawing/2014/main" id="{38696B14-E424-314C-5FC1-C6754F557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36675"/>
            <a:ext cx="6493509" cy="216213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Some rules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5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if (</a:t>
            </a:r>
            <a:r>
              <a:rPr lang="en-US" altLang="en-US" sz="2500" dirty="0">
                <a:solidFill>
                  <a:srgbClr val="3300FF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CURRENT</a:t>
            </a:r>
            <a:r>
              <a:rPr lang="en-US" altLang="en-US" sz="25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 – </a:t>
            </a:r>
            <a:r>
              <a:rPr lang="en-US" altLang="en-US" sz="2500" dirty="0">
                <a:solidFill>
                  <a:srgbClr val="3300FF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LAST</a:t>
            </a:r>
            <a:r>
              <a:rPr lang="en-US" altLang="en-US" sz="25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 &lt; 30) then </a:t>
            </a:r>
            <a:r>
              <a:rPr lang="en-US" altLang="en-US" sz="2500" dirty="0">
                <a:solidFill>
                  <a:srgbClr val="CC0033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NONE</a:t>
            </a:r>
            <a:endParaRPr lang="en-US" altLang="en-US" sz="2500" dirty="0">
              <a:latin typeface="Times" panose="02020603050405020304" pitchFamily="18" charset="0"/>
              <a:ea typeface="MS PGothic" panose="020B0600070205080204" pitchFamily="34" charset="-128"/>
              <a:cs typeface="Times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z="25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if (</a:t>
            </a:r>
            <a:r>
              <a:rPr lang="en-US" altLang="en-US" sz="2500" dirty="0">
                <a:solidFill>
                  <a:srgbClr val="3300FF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SEASON</a:t>
            </a:r>
            <a:r>
              <a:rPr lang="en-US" altLang="en-US" sz="25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 = winter) then not </a:t>
            </a:r>
            <a:r>
              <a:rPr lang="en-US" altLang="en-US" sz="2500" dirty="0">
                <a:solidFill>
                  <a:srgbClr val="CC0033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BUGS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5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if (</a:t>
            </a:r>
            <a:r>
              <a:rPr lang="en-US" altLang="en-US" sz="2500" dirty="0">
                <a:solidFill>
                  <a:schemeClr val="hlink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CLOUDS</a:t>
            </a:r>
            <a:r>
              <a:rPr lang="en-US" altLang="en-US" sz="25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 and not </a:t>
            </a:r>
            <a:r>
              <a:rPr lang="en-US" altLang="en-US" sz="2500" dirty="0">
                <a:solidFill>
                  <a:schemeClr val="hlink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SUNNY</a:t>
            </a:r>
            <a:r>
              <a:rPr lang="en-US" altLang="en-US" sz="25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) then </a:t>
            </a:r>
            <a:r>
              <a:rPr lang="en-US" altLang="en-US" sz="2500" dirty="0">
                <a:solidFill>
                  <a:srgbClr val="CC0033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RAIN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CAC0384-57FB-DC97-86E3-0A929D49BA7E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Expert Systems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99A17EAE-9C7E-48D3-FBA6-6959386409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43000"/>
            <a:ext cx="7620000" cy="371178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tabLst>
                <a:tab pos="2171700" algn="l"/>
              </a:tabLst>
            </a:pPr>
            <a:r>
              <a:rPr lang="en-US" altLang="en-US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An execution of our inference engine</a:t>
            </a:r>
            <a:endParaRPr lang="en-US" altLang="en-US" sz="2400" dirty="0">
              <a:latin typeface="Times" panose="02020603050405020304" pitchFamily="18" charset="0"/>
              <a:ea typeface="MS PGothic" panose="020B0600070205080204" pitchFamily="34" charset="-128"/>
              <a:cs typeface="Times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altLang="en-US" sz="24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System: 	Does the lawn have large, bare areas?</a:t>
            </a:r>
          </a:p>
          <a:p>
            <a:pPr lvl="1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altLang="en-US" sz="24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User: 	No</a:t>
            </a:r>
          </a:p>
          <a:p>
            <a:pPr lvl="1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altLang="en-US" sz="24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System: 	Does the lawn show evidence of bugs?</a:t>
            </a:r>
          </a:p>
          <a:p>
            <a:pPr lvl="1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altLang="en-US" sz="24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User: 	No</a:t>
            </a:r>
          </a:p>
          <a:p>
            <a:pPr lvl="1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altLang="en-US" sz="24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System: 	Is the lawn generally thin?</a:t>
            </a:r>
          </a:p>
          <a:p>
            <a:pPr lvl="1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altLang="en-US" sz="24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User: 	Yes</a:t>
            </a:r>
          </a:p>
          <a:p>
            <a:pPr lvl="1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altLang="en-US" sz="24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System: 	Does the lawn contain significant weeds?</a:t>
            </a:r>
          </a:p>
          <a:p>
            <a:pPr lvl="1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altLang="en-US" sz="24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User: 	Yes</a:t>
            </a:r>
          </a:p>
          <a:p>
            <a:pPr lvl="1" eaLnBrk="1" hangingPunct="1">
              <a:lnSpc>
                <a:spcPct val="90000"/>
              </a:lnSpc>
              <a:tabLst>
                <a:tab pos="2171700" algn="l"/>
              </a:tabLst>
            </a:pPr>
            <a:r>
              <a:rPr lang="en-US" altLang="en-US" sz="24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System: 	You should apply a weed-killing and 		fertilizer combination treatment.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8EB20E6-175D-9EC2-0A27-410C52C1AA83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Expert Systems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>
            <a:extLst>
              <a:ext uri="{FF2B5EF4-FFF2-40B4-BE49-F238E27FC236}">
                <a16:creationId xmlns:a16="http://schemas.microsoft.com/office/drawing/2014/main" id="{6E99D724-A436-4D52-34DA-E1C6CE4A06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19200"/>
            <a:ext cx="7848600" cy="258532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>
                <a:solidFill>
                  <a:srgbClr val="FF6600"/>
                </a:solidFill>
                <a:ea typeface="MS PGothic" panose="020B0600070205080204" pitchFamily="34" charset="-128"/>
              </a:rPr>
              <a:t>Artificial neural networks</a:t>
            </a:r>
          </a:p>
          <a:p>
            <a:pPr marL="0" indent="0" eaLnBrk="1" hangingPunct="1">
              <a:buFontTx/>
              <a:buNone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 computer representation of knowledge that attempts to mimic the neural networks of the human body</a:t>
            </a:r>
          </a:p>
          <a:p>
            <a:pPr marL="0" indent="0" eaLnBrk="1" hangingPunct="1">
              <a:buFontTx/>
              <a:buNone/>
            </a:pPr>
            <a:r>
              <a:rPr lang="en-US" altLang="en-US" b="0" i="1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 </a:t>
            </a:r>
          </a:p>
          <a:p>
            <a:pPr marL="0" indent="0" eaLnBrk="1" hangingPunct="1">
              <a:buFontTx/>
              <a:buNone/>
            </a:pPr>
            <a:r>
              <a:rPr lang="en-US" altLang="en-US" b="0" i="1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Yes, but what is a human neural network?</a:t>
            </a:r>
          </a:p>
          <a:p>
            <a:pPr marL="0" indent="0" eaLnBrk="1" hangingPunct="1">
              <a:buFontTx/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AD3D5EF-C197-DE90-A118-A2B481DE10AF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Neural Network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AD3D5EF-C197-DE90-A118-A2B481DE10AF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Neural Network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BF061AF1-27B9-72D2-82CB-B4B8E1999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1871663"/>
            <a:ext cx="847725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368559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>
            <a:extLst>
              <a:ext uri="{FF2B5EF4-FFF2-40B4-BE49-F238E27FC236}">
                <a16:creationId xmlns:a16="http://schemas.microsoft.com/office/drawing/2014/main" id="{3D73E4F4-1B5B-561F-1436-F85322AC47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229600" cy="3490186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Neuron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 single cell that conducts a chemically-based electronic signal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At any point in time a neuron is in either an excited state or an inhibited state 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Excited state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Neuron conducts a strong signal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Inhibited state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Neuron conducts a weak signal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728B6E3-8A48-4A82-9CD1-63CF42C787E1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Neural Network</a:t>
            </a: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>
            <a:extLst>
              <a:ext uri="{FF2B5EF4-FFF2-40B4-BE49-F238E27FC236}">
                <a16:creationId xmlns:a16="http://schemas.microsoft.com/office/drawing/2014/main" id="{DAAA2324-268F-B3F7-DDEF-D8144295DF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6493509" cy="2326791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Pathway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 series of connected neurons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Dendrites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Input tentacles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Axon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Primary output tentacle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220CD64-C46C-3BA0-7A2A-357F724B9B0D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Neural Network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6">
            <a:extLst>
              <a:ext uri="{FF2B5EF4-FFF2-40B4-BE49-F238E27FC236}">
                <a16:creationId xmlns:a16="http://schemas.microsoft.com/office/drawing/2014/main" id="{2C98919E-A366-A441-D5C4-76314C5DE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8305800" cy="18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800" dirty="0">
                <a:ea typeface="MS PGothic" panose="020B0600070205080204" pitchFamily="34" charset="-128"/>
                <a:cs typeface="Times" panose="02020603050405020304" pitchFamily="18" charset="0"/>
              </a:rPr>
              <a:t>The pathways along the neural nets are in a constant state of flux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800" dirty="0">
                <a:ea typeface="MS PGothic" panose="020B0600070205080204" pitchFamily="34" charset="-128"/>
                <a:cs typeface="Times" panose="02020603050405020304" pitchFamily="18" charset="0"/>
              </a:rPr>
              <a:t>As we learn new things, new strong neural pathways in our brain are formed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37D1669-327D-8E63-8DC2-691553511659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Neural Network</a:t>
            </a: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>
            <a:extLst>
              <a:ext uri="{FF2B5EF4-FFF2-40B4-BE49-F238E27FC236}">
                <a16:creationId xmlns:a16="http://schemas.microsoft.com/office/drawing/2014/main" id="{C00A0B8B-09CC-5BF6-44C3-BA7C9C4BA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001000" cy="1692771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Each processing element in an </a:t>
            </a:r>
            <a:r>
              <a:rPr lang="en-US" altLang="en-US" b="0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artificial neural net </a:t>
            </a: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is analogous to a biological neuron</a:t>
            </a:r>
          </a:p>
          <a:p>
            <a:pPr marL="109220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An element accepts a certain number of input values (dendrites) and produces a single output value (axon) of either 0 or 1</a:t>
            </a:r>
          </a:p>
          <a:p>
            <a:pPr marL="109220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Associated with each input value is a numeric weight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702479E-1FF0-DCB3-3882-7479703D5AC3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Neural Network</a:t>
            </a: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>
            <a:extLst>
              <a:ext uri="{FF2B5EF4-FFF2-40B4-BE49-F238E27FC236}">
                <a16:creationId xmlns:a16="http://schemas.microsoft.com/office/drawing/2014/main" id="{354B33E4-F864-AF53-6E67-0B76D326E2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458200" cy="3397853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en-US" sz="2400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The </a:t>
            </a:r>
            <a:r>
              <a:rPr lang="en-US" altLang="en-US" sz="2400" b="0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effective weight </a:t>
            </a:r>
            <a:r>
              <a:rPr lang="en-US" altLang="en-US" sz="2400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of the element is the sum of the weights multiplied by their respective input values</a:t>
            </a:r>
          </a:p>
          <a:p>
            <a:pPr lvl="2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v1 * w1 + v2 * w2 + v3 * w3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Each element has a numeric threshold value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If the effective weight exceeds the threshold, the unit produces an output value of 1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If it does not exceed the threshold, it produces an output value of 0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8DCFAECE-DE8A-8E87-3EA5-EA2C3C65A303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Neural Network</a:t>
            </a: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>
            <a:extLst>
              <a:ext uri="{FF2B5EF4-FFF2-40B4-BE49-F238E27FC236}">
                <a16:creationId xmlns:a16="http://schemas.microsoft.com/office/drawing/2014/main" id="{7CFB6A1F-A1E2-AF5A-756B-46B70F1D1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310238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FF6600"/>
                </a:solidFill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Training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The process of adjusting the weights and threshold values in a neural net 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b="0" i="1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How does this all work?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Train a neural net to recognize a cat in a picture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b="0" dirty="0">
                <a:latin typeface="Times" panose="02020603050405020304" pitchFamily="18" charset="0"/>
                <a:ea typeface="MS PGothic" panose="020B0600070205080204" pitchFamily="34" charset="-128"/>
                <a:cs typeface="Times" panose="02020603050405020304" pitchFamily="18" charset="0"/>
              </a:rPr>
              <a:t>Given one output value per pixel, train network to produce an output value of 1 for every pixel that contributes to the cat and 0 for every one that doesn't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B23A2FB-F184-7DEE-B305-E943A85DB1D5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Neural Network</a:t>
            </a: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B23A2FB-F184-7DEE-B305-E943A85DB1D5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Robots</a:t>
            </a:r>
          </a:p>
        </p:txBody>
      </p:sp>
      <p:pic>
        <p:nvPicPr>
          <p:cNvPr id="5" name="Picture 1" descr="65739_CH13_SonyRobot.jpg">
            <a:extLst>
              <a:ext uri="{FF2B5EF4-FFF2-40B4-BE49-F238E27FC236}">
                <a16:creationId xmlns:a16="http://schemas.microsoft.com/office/drawing/2014/main" id="{E29AD780-135C-CF1B-D9D5-28852A9DD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1898650"/>
            <a:ext cx="5334000" cy="325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419681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B23A2FB-F184-7DEE-B305-E943A85DB1D5}"/>
              </a:ext>
            </a:extLst>
          </p:cNvPr>
          <p:cNvSpPr txBox="1">
            <a:spLocks/>
          </p:cNvSpPr>
          <p:nvPr/>
        </p:nvSpPr>
        <p:spPr>
          <a:xfrm>
            <a:off x="533400" y="387906"/>
            <a:ext cx="8458200" cy="566181"/>
          </a:xfrm>
          <a:prstGeom prst="rect">
            <a:avLst/>
          </a:prstGeom>
        </p:spPr>
        <p:txBody>
          <a:bodyPr wrap="square" lIns="0" tIns="12065" rIns="0" bIns="0">
            <a:spAutoFit/>
          </a:bodyPr>
          <a:lstStyle>
            <a:lvl1pPr>
              <a:defRPr sz="3600" b="0" i="0">
                <a:solidFill>
                  <a:srgbClr val="333399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114550" indent="-2103438">
              <a:spcBef>
                <a:spcPts val="100"/>
              </a:spcBef>
            </a:pPr>
            <a:r>
              <a:rPr lang="en-US" altLang="en-US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Robots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851BEB-B17A-858C-0EAB-6E4087B95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1219200"/>
            <a:ext cx="5448300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178812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2070</TotalTime>
  <Words>847</Words>
  <Application>Microsoft Macintosh PowerPoint</Application>
  <PresentationFormat>On-screen Show (4:3)</PresentationFormat>
  <Paragraphs>153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MS PGothic</vt:lpstr>
      <vt:lpstr>Arial</vt:lpstr>
      <vt:lpstr>Calibri</vt:lpstr>
      <vt:lpstr>Tahoma</vt:lpstr>
      <vt:lpstr>Times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 220-001:  Networking and Telecommunications</dc:title>
  <dc:creator>Lee Giles</dc:creator>
  <cp:lastModifiedBy>Mustafa Bamboat</cp:lastModifiedBy>
  <cp:revision>404</cp:revision>
  <cp:lastPrinted>2022-11-30T14:10:20Z</cp:lastPrinted>
  <dcterms:created xsi:type="dcterms:W3CDTF">2018-01-17T15:03:08Z</dcterms:created>
  <dcterms:modified xsi:type="dcterms:W3CDTF">2026-05-10T07:18:22Z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2015-09-11T00:00:00Z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2018-01-17T00:00:00Z</vt:filetime>
  </property>
</Properties>
</file>